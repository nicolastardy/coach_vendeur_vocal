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16"/>
    <p:restoredTop sz="94610"/>
  </p:normalViewPr>
  <p:slideViewPr>
    <p:cSldViewPr snapToGrid="0" snapToObjects="1">
      <p:cViewPr varScale="1">
        <p:scale>
          <a:sx n="192" d="100"/>
          <a:sy n="192" d="100"/>
        </p:scale>
        <p:origin x="304"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3006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30613"/>
        </a:solidFill>
        <a:effectLst/>
      </p:bgPr>
    </p:bg>
    <p:spTree>
      <p:nvGrpSpPr>
        <p:cNvPr id="1" name=""/>
        <p:cNvGrpSpPr/>
        <p:nvPr/>
      </p:nvGrpSpPr>
      <p:grpSpPr>
        <a:xfrm>
          <a:off x="0" y="0"/>
          <a:ext cx="0" cy="0"/>
          <a:chOff x="0" y="0"/>
          <a:chExt cx="0" cy="0"/>
        </a:xfrm>
      </p:grpSpPr>
      <p:sp>
        <p:nvSpPr>
          <p:cNvPr id="2" name="Text 0"/>
          <p:cNvSpPr/>
          <p:nvPr/>
        </p:nvSpPr>
        <p:spPr>
          <a:xfrm>
            <a:off x="457200" y="1828800"/>
            <a:ext cx="8229600" cy="1097280"/>
          </a:xfrm>
          <a:prstGeom prst="rect">
            <a:avLst/>
          </a:prstGeom>
          <a:noFill/>
          <a:ln/>
        </p:spPr>
        <p:txBody>
          <a:bodyPr wrap="square" lIns="0" tIns="0" rIns="0" bIns="0" rtlCol="0" anchor="ctr"/>
          <a:lstStyle/>
          <a:p>
            <a:pPr marL="0" indent="0">
              <a:buNone/>
            </a:pPr>
            <a:r>
              <a:rPr lang="en-US" sz="4400" b="1" dirty="0">
                <a:solidFill>
                  <a:srgbClr val="FFFFFF"/>
                </a:solidFill>
                <a:latin typeface="Circular Std Medium" panose="020B0604020101010102" pitchFamily="34" charset="77"/>
                <a:ea typeface="Arial" pitchFamily="34" charset="-122"/>
                <a:cs typeface="Circular Std Medium" panose="020B0604020101010102" pitchFamily="34" charset="77"/>
              </a:rPr>
              <a:t>Protection Esthétique BUT</a:t>
            </a:r>
            <a:endParaRPr lang="en-US" sz="4400" dirty="0">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3017520"/>
            <a:ext cx="8229600" cy="731520"/>
          </a:xfrm>
          <a:prstGeom prst="rect">
            <a:avLst/>
          </a:prstGeom>
          <a:noFill/>
          <a:ln/>
        </p:spPr>
        <p:txBody>
          <a:bodyPr wrap="square" lIns="0" tIns="0" rIns="0" bIns="0" rtlCol="0" anchor="ctr"/>
          <a:lstStyle/>
          <a:p>
            <a:pPr marL="0" indent="0">
              <a:buNone/>
            </a:pPr>
            <a:r>
              <a:rPr lang="en-US" sz="2000" dirty="0">
                <a:solidFill>
                  <a:srgbClr val="FFFFFF"/>
                </a:solidFill>
                <a:latin typeface="Circular Std Medium" panose="020B0604020101010102" pitchFamily="34" charset="77"/>
                <a:ea typeface="Arial" pitchFamily="34" charset="-122"/>
                <a:cs typeface="Circular Std Medium" panose="020B0604020101010102" pitchFamily="34" charset="77"/>
              </a:rPr>
              <a:t>Formation vendeurs — Document interne</a:t>
            </a:r>
            <a:endParaRPr lang="en-US" sz="20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4663440"/>
            <a:ext cx="8229600" cy="365760"/>
          </a:xfrm>
          <a:prstGeom prst="rect">
            <a:avLst/>
          </a:prstGeom>
          <a:noFill/>
          <a:ln/>
        </p:spPr>
        <p:txBody>
          <a:bodyPr wrap="square" lIns="0" tIns="0" rIns="0" bIns="0" rtlCol="0" anchor="ctr"/>
          <a:lstStyle/>
          <a:p>
            <a:pPr marL="0" indent="0">
              <a:buNone/>
            </a:pPr>
            <a:r>
              <a:rPr lang="en-US" sz="1400" i="1" dirty="0">
                <a:solidFill>
                  <a:srgbClr val="FFFFFF"/>
                </a:solidFill>
                <a:latin typeface="Circular Std Medium" panose="020B0604020101010102" pitchFamily="34" charset="77"/>
                <a:ea typeface="Arial" pitchFamily="34" charset="-122"/>
                <a:cs typeface="Circular Std Medium" panose="020B0604020101010102" pitchFamily="34" charset="77"/>
              </a:rPr>
              <a:t>BUT &lt;&gt; Estaly</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457200" y="2286000"/>
            <a:ext cx="137160" cy="9144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777240" y="2103120"/>
            <a:ext cx="7772400" cy="1280160"/>
          </a:xfrm>
          <a:prstGeom prst="rect">
            <a:avLst/>
          </a:prstGeom>
          <a:noFill/>
          <a:ln/>
        </p:spPr>
        <p:txBody>
          <a:bodyPr wrap="square" lIns="0" tIns="0" rIns="0" bIns="0" rtlCol="0" anchor="ctr"/>
          <a:lstStyle/>
          <a:p>
            <a:pPr marL="0" indent="0">
              <a:buNone/>
            </a:pPr>
            <a:r>
              <a:rPr lang="en-US" sz="4000" b="1" dirty="0">
                <a:solidFill>
                  <a:srgbClr val="FFFFFF"/>
                </a:solidFill>
                <a:latin typeface="Circular Std Medium" panose="020B0604020101010102" pitchFamily="34" charset="77"/>
                <a:ea typeface="Arial" pitchFamily="34" charset="-122"/>
                <a:cs typeface="Circular Std Medium" panose="020B0604020101010102" pitchFamily="34" charset="77"/>
              </a:rPr>
              <a:t>Le produit</a:t>
            </a:r>
            <a:endParaRPr lang="en-US" sz="40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En une phrase</a:t>
            </a:r>
            <a:endParaRPr lang="en-US" sz="2800" dirty="0">
              <a:latin typeface="Circular Std Medium" panose="020B0604020101010102" pitchFamily="34" charset="77"/>
              <a:cs typeface="Circular Std Medium" panose="020B0604020101010102" pitchFamily="34" charset="77"/>
            </a:endParaRPr>
          </a:p>
        </p:txBody>
      </p:sp>
      <p:sp>
        <p:nvSpPr>
          <p:cNvPr id="4" name="Shape 2"/>
          <p:cNvSpPr/>
          <p:nvPr/>
        </p:nvSpPr>
        <p:spPr>
          <a:xfrm>
            <a:off x="457200" y="1097280"/>
            <a:ext cx="8229600" cy="201168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5" name="Text 3"/>
          <p:cNvSpPr/>
          <p:nvPr/>
        </p:nvSpPr>
        <p:spPr>
          <a:xfrm>
            <a:off x="640080" y="1280160"/>
            <a:ext cx="7863840" cy="1280160"/>
          </a:xfrm>
          <a:prstGeom prst="rect">
            <a:avLst/>
          </a:prstGeom>
          <a:noFill/>
          <a:ln/>
        </p:spPr>
        <p:txBody>
          <a:bodyPr wrap="square" lIns="0" tIns="0" rIns="0" bIns="0" rtlCol="0" anchor="ctr"/>
          <a:lstStyle/>
          <a:p>
            <a:pPr marL="0" indent="0">
              <a:buNone/>
            </a:pPr>
            <a:r>
              <a:rPr lang="en-US" sz="2200" b="1" dirty="0">
                <a:solidFill>
                  <a:srgbClr val="2D2D2D"/>
                </a:solidFill>
                <a:latin typeface="Circular Std Medium" panose="020B0604020101010102" pitchFamily="34" charset="77"/>
                <a:ea typeface="Arial" pitchFamily="34" charset="-122"/>
                <a:cs typeface="Circular Std Medium" panose="020B0604020101010102" pitchFamily="34" charset="77"/>
              </a:rPr>
              <a:t>Pendant 12 ou 24 mois, si le produit du client prend une tache, une rayure, une griffure, un éclat ou une brûlure, on lui fait un bon d'achat du montant de son produit.</a:t>
            </a:r>
            <a:endParaRPr lang="en-US" sz="2200" dirty="0">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2651760"/>
            <a:ext cx="7863840" cy="365760"/>
          </a:xfrm>
          <a:prstGeom prst="rect">
            <a:avLst/>
          </a:prstGeom>
          <a:noFill/>
          <a:ln/>
        </p:spPr>
        <p:txBody>
          <a:bodyPr wrap="square" lIns="0" tIns="0" rIns="0" bIns="0" rtlCol="0" anchor="ctr"/>
          <a:lstStyle/>
          <a:p>
            <a:pPr marL="0" indent="0">
              <a:buNone/>
            </a:pPr>
            <a:r>
              <a:rPr lang="en-US" sz="2200" b="1" dirty="0">
                <a:solidFill>
                  <a:srgbClr val="E30613"/>
                </a:solidFill>
                <a:latin typeface="Circular Std Medium" panose="020B0604020101010102" pitchFamily="34" charset="77"/>
                <a:ea typeface="Arial" pitchFamily="34" charset="-122"/>
                <a:cs typeface="Circular Std Medium" panose="020B0604020101010102" pitchFamily="34" charset="77"/>
              </a:rPr>
              <a:t>C'est traité dans la journée.</a:t>
            </a:r>
            <a:endParaRPr lang="en-US" sz="22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457200" y="3474720"/>
            <a:ext cx="8229600" cy="45720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Ce que ça couvre : </a:t>
            </a:r>
            <a:r>
              <a:rPr lang="en-US" sz="1600" dirty="0">
                <a:solidFill>
                  <a:srgbClr val="2D2D2D"/>
                </a:solidFill>
                <a:latin typeface="Circular Std Medium" panose="020B0604020101010102" pitchFamily="34" charset="77"/>
                <a:ea typeface="Arial" pitchFamily="34" charset="-122"/>
                <a:cs typeface="Circular Std Medium" panose="020B0604020101010102" pitchFamily="34" charset="77"/>
              </a:rPr>
              <a:t>les accidents du quotidien (taches, rayures, brûlures, éclats)</a:t>
            </a:r>
            <a:endParaRPr lang="en-US" sz="1600" dirty="0">
              <a:latin typeface="Circular Std Medium" panose="020B0604020101010102" pitchFamily="34" charset="77"/>
              <a:cs typeface="Circular Std Medium" panose="020B0604020101010102" pitchFamily="34" charset="77"/>
            </a:endParaRPr>
          </a:p>
        </p:txBody>
      </p:sp>
      <p:sp>
        <p:nvSpPr>
          <p:cNvPr id="8" name="Text 6"/>
          <p:cNvSpPr/>
          <p:nvPr/>
        </p:nvSpPr>
        <p:spPr>
          <a:xfrm>
            <a:off x="457200" y="3931920"/>
            <a:ext cx="8229600" cy="45720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Ce que ça ne couvre pas : </a:t>
            </a:r>
            <a:r>
              <a:rPr lang="en-US" sz="1600" dirty="0">
                <a:solidFill>
                  <a:srgbClr val="2D2D2D"/>
                </a:solidFill>
                <a:latin typeface="Circular Std Medium" panose="020B0604020101010102" pitchFamily="34" charset="77"/>
                <a:ea typeface="Arial" pitchFamily="34" charset="-122"/>
                <a:cs typeface="Circular Std Medium" panose="020B0604020101010102" pitchFamily="34" charset="77"/>
              </a:rPr>
              <a:t>les pannes et défauts (c'est la garantie fabricant/extension)</a:t>
            </a:r>
            <a:endParaRPr lang="en-US" sz="16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457200" y="4480560"/>
            <a:ext cx="8229600" cy="365760"/>
          </a:xfrm>
          <a:prstGeom prst="rect">
            <a:avLst/>
          </a:prstGeom>
          <a:noFill/>
          <a:ln/>
        </p:spPr>
        <p:txBody>
          <a:bodyPr wrap="square" lIns="0" tIns="0" rIns="0" bIns="0" rtlCol="0" anchor="ctr"/>
          <a:lstStyle/>
          <a:p>
            <a:pPr marL="0" indent="0">
              <a:buNone/>
            </a:pPr>
            <a:r>
              <a:rPr lang="en-US" sz="1400" i="1" dirty="0">
                <a:solidFill>
                  <a:srgbClr val="666666"/>
                </a:solidFill>
                <a:latin typeface="Circular Std Medium" panose="020B0604020101010102" pitchFamily="34" charset="77"/>
                <a:ea typeface="Arial" pitchFamily="34" charset="-122"/>
                <a:cs typeface="Circular Std Medium" panose="020B0604020101010102" pitchFamily="34" charset="77"/>
              </a:rPr>
              <a:t>→ Ce sont deux choses différentes, pas des doublons.</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Ce qui est couvert</a:t>
            </a:r>
            <a:endParaRPr lang="en-US" sz="2800" dirty="0">
              <a:latin typeface="Circular Std Medium" panose="020B0604020101010102" pitchFamily="34" charset="77"/>
              <a:cs typeface="Circular Std Medium" panose="020B0604020101010102" pitchFamily="34" charset="77"/>
            </a:endParaRPr>
          </a:p>
        </p:txBody>
      </p:sp>
      <p:sp>
        <p:nvSpPr>
          <p:cNvPr id="4" name="Shape 2"/>
          <p:cNvSpPr/>
          <p:nvPr/>
        </p:nvSpPr>
        <p:spPr>
          <a:xfrm>
            <a:off x="457200" y="1005840"/>
            <a:ext cx="3931920" cy="3474720"/>
          </a:xfrm>
          <a:prstGeom prst="rect">
            <a:avLst/>
          </a:prstGeom>
          <a:solidFill>
            <a:srgbClr val="E8F5E9"/>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5" name="Text 3"/>
          <p:cNvSpPr/>
          <p:nvPr/>
        </p:nvSpPr>
        <p:spPr>
          <a:xfrm>
            <a:off x="640080" y="1143000"/>
            <a:ext cx="3657600" cy="365760"/>
          </a:xfrm>
          <a:prstGeom prst="rect">
            <a:avLst/>
          </a:prstGeom>
          <a:noFill/>
          <a:ln/>
        </p:spPr>
        <p:txBody>
          <a:bodyPr wrap="square" lIns="0" tIns="0" rIns="0" bIns="0" rtlCol="0" anchor="ctr"/>
          <a:lstStyle/>
          <a:p>
            <a:pPr marL="0" indent="0">
              <a:buNone/>
            </a:pPr>
            <a:r>
              <a:rPr lang="en-US" sz="1600" b="1" dirty="0">
                <a:solidFill>
                  <a:srgbClr val="2E7D32"/>
                </a:solidFill>
                <a:latin typeface="Circular Std Medium" panose="020B0604020101010102" pitchFamily="34" charset="77"/>
                <a:ea typeface="Arial" pitchFamily="34" charset="-122"/>
                <a:cs typeface="Circular Std Medium" panose="020B0604020101010102" pitchFamily="34" charset="77"/>
              </a:rPr>
              <a:t>✓ COUVERT</a:t>
            </a:r>
            <a:endParaRPr lang="en-US" sz="1600" dirty="0">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600200"/>
            <a:ext cx="3657600" cy="2743200"/>
          </a:xfrm>
          <a:prstGeom prst="rect">
            <a:avLst/>
          </a:prstGeom>
          <a:noFill/>
          <a:ln/>
        </p:spPr>
        <p:txBody>
          <a:bodyPr wrap="square" lIns="0" tIns="0" rIns="0" bIns="0" rtlCol="0" anchor="ctr"/>
          <a:lstStyle/>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Taches accidentelles</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Vin, café, feutre, gras, encre, maquillage, fluides corporels</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Rayures et griffures profondes</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Sur bois, verre, métal, cuir</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Éclats et ébréchures</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Suite à un choc accidentel</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Brûlures</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Cigarette, fer à repasser, plat chaud</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Déchirures et perforations</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Sur tissus, cuirs, matières synthétiques</a:t>
            </a:r>
            <a:endParaRPr lang="en-US" sz="1200" dirty="0">
              <a:latin typeface="Circular Std Medium" panose="020B0604020101010102" pitchFamily="34" charset="77"/>
              <a:cs typeface="Circular Std Medium" panose="020B0604020101010102" pitchFamily="34" charset="77"/>
            </a:endParaRPr>
          </a:p>
        </p:txBody>
      </p:sp>
      <p:sp>
        <p:nvSpPr>
          <p:cNvPr id="7" name="Shape 5"/>
          <p:cNvSpPr/>
          <p:nvPr/>
        </p:nvSpPr>
        <p:spPr>
          <a:xfrm>
            <a:off x="4754880" y="1005840"/>
            <a:ext cx="3931920" cy="3474720"/>
          </a:xfrm>
          <a:prstGeom prst="rect">
            <a:avLst/>
          </a:prstGeom>
          <a:solidFill>
            <a:srgbClr val="FFEBEE"/>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8" name="Text 6"/>
          <p:cNvSpPr/>
          <p:nvPr/>
        </p:nvSpPr>
        <p:spPr>
          <a:xfrm>
            <a:off x="4937760" y="1143000"/>
            <a:ext cx="3657600" cy="365760"/>
          </a:xfrm>
          <a:prstGeom prst="rect">
            <a:avLst/>
          </a:prstGeom>
          <a:noFill/>
          <a:ln/>
        </p:spPr>
        <p:txBody>
          <a:bodyPr wrap="square" lIns="0" tIns="0" rIns="0" bIns="0" rtlCol="0" anchor="ctr"/>
          <a:lstStyle/>
          <a:p>
            <a:pPr marL="0" indent="0">
              <a:buNone/>
            </a:pPr>
            <a:r>
              <a:rPr lang="en-US" sz="1600" b="1" dirty="0">
                <a:solidFill>
                  <a:srgbClr val="E30613"/>
                </a:solidFill>
                <a:latin typeface="Circular Std Medium" panose="020B0604020101010102" pitchFamily="34" charset="77"/>
                <a:ea typeface="Arial" pitchFamily="34" charset="-122"/>
                <a:cs typeface="Circular Std Medium" panose="020B0604020101010102" pitchFamily="34" charset="77"/>
              </a:rPr>
              <a:t>✗ PAS COUVERT</a:t>
            </a:r>
            <a:endParaRPr lang="en-US" sz="16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4937760" y="1600200"/>
            <a:ext cx="3657600" cy="2743200"/>
          </a:xfrm>
          <a:prstGeom prst="rect">
            <a:avLst/>
          </a:prstGeom>
          <a:noFill/>
          <a:ln/>
        </p:spPr>
        <p:txBody>
          <a:bodyPr wrap="square" lIns="0" tIns="0" rIns="0" bIns="0" rtlCol="0" anchor="ctr"/>
          <a:lstStyle/>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Usure normale</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Affaissement, boulochage, décoloration naturelle</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Défaut de fabrication</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 Garantie légale de conformité</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Panne mécanique</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 Extension de garantie</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Dommages animaux</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Griffures, morsures, déjections</a:t>
            </a:r>
            <a:endParaRPr lang="en-US" sz="1200" dirty="0">
              <a:latin typeface="Circular Std Medium" panose="020B0604020101010102" pitchFamily="34" charset="77"/>
              <a:cs typeface="Circular Std Medium" panose="020B0604020101010102" pitchFamily="34" charset="77"/>
            </a:endParaRPr>
          </a:p>
          <a:p>
            <a:pPr marL="0" indent="0">
              <a:buNone/>
            </a:pP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b="1" dirty="0">
                <a:solidFill>
                  <a:srgbClr val="2D2D2D"/>
                </a:solidFill>
                <a:latin typeface="Circular Std Medium" panose="020B0604020101010102" pitchFamily="34" charset="77"/>
                <a:ea typeface="Arial" pitchFamily="34" charset="-122"/>
                <a:cs typeface="Circular Std Medium" panose="020B0604020101010102" pitchFamily="34" charset="77"/>
              </a:rPr>
              <a:t>Défaut d'entretien</a:t>
            </a:r>
            <a:endParaRPr lang="en-US" sz="1200" dirty="0">
              <a:latin typeface="Circular Std Medium" panose="020B0604020101010102" pitchFamily="34" charset="77"/>
              <a:cs typeface="Circular Std Medium" panose="020B0604020101010102" pitchFamily="34" charset="77"/>
            </a:endParaRPr>
          </a:p>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Encrassement progressif, taches de sébum</a:t>
            </a:r>
            <a:endParaRPr lang="en-US" sz="1200" dirty="0">
              <a:latin typeface="Circular Std Medium" panose="020B0604020101010102" pitchFamily="34" charset="77"/>
              <a:cs typeface="Circular Std Medium" panose="020B0604020101010102" pitchFamily="34" charset="77"/>
            </a:endParaRPr>
          </a:p>
        </p:txBody>
      </p:sp>
      <p:sp>
        <p:nvSpPr>
          <p:cNvPr id="10" name="Text 8"/>
          <p:cNvSpPr/>
          <p:nvPr/>
        </p:nvSpPr>
        <p:spPr>
          <a:xfrm>
            <a:off x="457200" y="4663440"/>
            <a:ext cx="8229600" cy="36576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La règle simple : accident soudain = couvert. Usure ou négligence = pas couvert.</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Les chiffres à retenir</a:t>
            </a:r>
            <a:endParaRPr lang="en-US" sz="2800" dirty="0">
              <a:latin typeface="Circular Std Medium" panose="020B0604020101010102" pitchFamily="34" charset="77"/>
              <a:cs typeface="Circular Std Medium" panose="020B0604020101010102" pitchFamily="34" charset="77"/>
            </a:endParaRPr>
          </a:p>
        </p:txBody>
      </p:sp>
      <p:sp>
        <p:nvSpPr>
          <p:cNvPr id="4" name="Shape 2"/>
          <p:cNvSpPr/>
          <p:nvPr/>
        </p:nvSpPr>
        <p:spPr>
          <a:xfrm>
            <a:off x="457200" y="1097280"/>
            <a:ext cx="2011680" cy="16459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5" name="Text 3"/>
          <p:cNvSpPr/>
          <p:nvPr/>
        </p:nvSpPr>
        <p:spPr>
          <a:xfrm>
            <a:off x="457200" y="1234440"/>
            <a:ext cx="2011680" cy="822960"/>
          </a:xfrm>
          <a:prstGeom prst="rect">
            <a:avLst/>
          </a:prstGeom>
          <a:noFill/>
          <a:ln/>
        </p:spPr>
        <p:txBody>
          <a:bodyPr wrap="square" lIns="0" tIns="0" rIns="0" bIns="0" rtlCol="0" anchor="ctr"/>
          <a:lstStyle/>
          <a:p>
            <a:pPr marL="0" indent="0" algn="ctr">
              <a:buNone/>
            </a:pPr>
            <a:r>
              <a:rPr lang="en-US" sz="3600" b="1" dirty="0">
                <a:solidFill>
                  <a:srgbClr val="2E7D32"/>
                </a:solidFill>
                <a:latin typeface="Circular Std Medium" panose="020B0604020101010102" pitchFamily="34" charset="77"/>
                <a:ea typeface="Arial" pitchFamily="34" charset="-122"/>
                <a:cs typeface="Circular Std Medium" panose="020B0604020101010102" pitchFamily="34" charset="77"/>
              </a:rPr>
              <a:t>80-90%</a:t>
            </a:r>
            <a:endParaRPr lang="en-US" sz="3600" dirty="0">
              <a:latin typeface="Circular Std Medium" panose="020B0604020101010102" pitchFamily="34" charset="77"/>
              <a:cs typeface="Circular Std Medium" panose="020B0604020101010102" pitchFamily="34" charset="77"/>
            </a:endParaRPr>
          </a:p>
        </p:txBody>
      </p:sp>
      <p:sp>
        <p:nvSpPr>
          <p:cNvPr id="6" name="Text 4"/>
          <p:cNvSpPr/>
          <p:nvPr/>
        </p:nvSpPr>
        <p:spPr>
          <a:xfrm>
            <a:off x="548640" y="2103120"/>
            <a:ext cx="1828800" cy="548640"/>
          </a:xfrm>
          <a:prstGeom prst="rect">
            <a:avLst/>
          </a:prstGeom>
          <a:noFill/>
          <a:ln/>
        </p:spPr>
        <p:txBody>
          <a:bodyPr wrap="square" lIns="0" tIns="0" rIns="0" bIns="0" rtlCol="0" anchor="ctr"/>
          <a:lstStyle/>
          <a:p>
            <a:pPr marL="0" indent="0" algn="ctr">
              <a:buNone/>
            </a:pPr>
            <a:r>
              <a:rPr lang="en-US" sz="1100" dirty="0">
                <a:solidFill>
                  <a:srgbClr val="2D2D2D"/>
                </a:solidFill>
                <a:latin typeface="Circular Std Medium" panose="020B0604020101010102" pitchFamily="34" charset="77"/>
                <a:ea typeface="Arial" pitchFamily="34" charset="-122"/>
                <a:cs typeface="Circular Std Medium" panose="020B0604020101010102" pitchFamily="34" charset="77"/>
              </a:rPr>
              <a:t>des dossiers acceptés</a:t>
            </a:r>
            <a:endParaRPr lang="en-US" sz="1100" dirty="0">
              <a:latin typeface="Circular Std Medium" panose="020B0604020101010102" pitchFamily="34" charset="77"/>
              <a:cs typeface="Circular Std Medium" panose="020B0604020101010102" pitchFamily="34" charset="77"/>
            </a:endParaRPr>
          </a:p>
        </p:txBody>
      </p:sp>
      <p:sp>
        <p:nvSpPr>
          <p:cNvPr id="7" name="Shape 5"/>
          <p:cNvSpPr/>
          <p:nvPr/>
        </p:nvSpPr>
        <p:spPr>
          <a:xfrm>
            <a:off x="2606040" y="1097280"/>
            <a:ext cx="2011680" cy="16459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8" name="Text 6"/>
          <p:cNvSpPr/>
          <p:nvPr/>
        </p:nvSpPr>
        <p:spPr>
          <a:xfrm>
            <a:off x="2606040" y="1234440"/>
            <a:ext cx="2011680" cy="822960"/>
          </a:xfrm>
          <a:prstGeom prst="rect">
            <a:avLst/>
          </a:prstGeom>
          <a:noFill/>
          <a:ln/>
        </p:spPr>
        <p:txBody>
          <a:bodyPr wrap="square" lIns="0" tIns="0" rIns="0" bIns="0" rtlCol="0" anchor="ctr"/>
          <a:lstStyle/>
          <a:p>
            <a:pPr marL="0" indent="0" algn="ctr">
              <a:buNone/>
            </a:pPr>
            <a:r>
              <a:rPr lang="en-US" sz="3600" b="1" dirty="0">
                <a:solidFill>
                  <a:srgbClr val="E30613"/>
                </a:solidFill>
                <a:latin typeface="Circular Std Medium" panose="020B0604020101010102" pitchFamily="34" charset="77"/>
                <a:ea typeface="Arial" pitchFamily="34" charset="-122"/>
                <a:cs typeface="Circular Std Medium" panose="020B0604020101010102" pitchFamily="34" charset="77"/>
              </a:rPr>
              <a:t>4h</a:t>
            </a:r>
            <a:endParaRPr lang="en-US" sz="36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2697480" y="2103120"/>
            <a:ext cx="1828800" cy="548640"/>
          </a:xfrm>
          <a:prstGeom prst="rect">
            <a:avLst/>
          </a:prstGeom>
          <a:noFill/>
          <a:ln/>
        </p:spPr>
        <p:txBody>
          <a:bodyPr wrap="square" lIns="0" tIns="0" rIns="0" bIns="0" rtlCol="0" anchor="ctr"/>
          <a:lstStyle/>
          <a:p>
            <a:pPr marL="0" indent="0" algn="ctr">
              <a:buNone/>
            </a:pPr>
            <a:r>
              <a:rPr lang="en-US" sz="1100" dirty="0">
                <a:solidFill>
                  <a:srgbClr val="2D2D2D"/>
                </a:solidFill>
                <a:latin typeface="Circular Std Medium" panose="020B0604020101010102" pitchFamily="34" charset="77"/>
                <a:ea typeface="Arial" pitchFamily="34" charset="-122"/>
                <a:cs typeface="Circular Std Medium" panose="020B0604020101010102" pitchFamily="34" charset="77"/>
              </a:rPr>
              <a:t>délai de traitement moyen</a:t>
            </a:r>
            <a:endParaRPr lang="en-US" sz="1100" dirty="0">
              <a:latin typeface="Circular Std Medium" panose="020B0604020101010102" pitchFamily="34" charset="77"/>
              <a:cs typeface="Circular Std Medium" panose="020B0604020101010102" pitchFamily="34" charset="77"/>
            </a:endParaRPr>
          </a:p>
        </p:txBody>
      </p:sp>
      <p:sp>
        <p:nvSpPr>
          <p:cNvPr id="10" name="Shape 8"/>
          <p:cNvSpPr/>
          <p:nvPr/>
        </p:nvSpPr>
        <p:spPr>
          <a:xfrm>
            <a:off x="4754880" y="1097280"/>
            <a:ext cx="2011680" cy="16459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1" name="Text 9"/>
          <p:cNvSpPr/>
          <p:nvPr/>
        </p:nvSpPr>
        <p:spPr>
          <a:xfrm>
            <a:off x="4754880" y="1234440"/>
            <a:ext cx="2011680" cy="822960"/>
          </a:xfrm>
          <a:prstGeom prst="rect">
            <a:avLst/>
          </a:prstGeom>
          <a:noFill/>
          <a:ln/>
        </p:spPr>
        <p:txBody>
          <a:bodyPr wrap="square" lIns="0" tIns="0" rIns="0" bIns="0" rtlCol="0" anchor="ctr"/>
          <a:lstStyle/>
          <a:p>
            <a:pPr marL="0" indent="0" algn="ctr">
              <a:buNone/>
            </a:pPr>
            <a:r>
              <a:rPr lang="en-US" sz="3600" b="1" dirty="0">
                <a:solidFill>
                  <a:srgbClr val="2D2D2D"/>
                </a:solidFill>
                <a:latin typeface="Circular Std Medium" panose="020B0604020101010102" pitchFamily="34" charset="77"/>
                <a:ea typeface="Arial" pitchFamily="34" charset="-122"/>
                <a:cs typeface="Circular Std Medium" panose="020B0604020101010102" pitchFamily="34" charset="77"/>
              </a:rPr>
              <a:t>100%</a:t>
            </a:r>
            <a:endParaRPr lang="en-US" sz="3600" dirty="0">
              <a:latin typeface="Circular Std Medium" panose="020B0604020101010102" pitchFamily="34" charset="77"/>
              <a:cs typeface="Circular Std Medium" panose="020B0604020101010102" pitchFamily="34" charset="77"/>
            </a:endParaRPr>
          </a:p>
        </p:txBody>
      </p:sp>
      <p:sp>
        <p:nvSpPr>
          <p:cNvPr id="12" name="Text 10"/>
          <p:cNvSpPr/>
          <p:nvPr/>
        </p:nvSpPr>
        <p:spPr>
          <a:xfrm>
            <a:off x="4846320" y="2103120"/>
            <a:ext cx="1828800" cy="548640"/>
          </a:xfrm>
          <a:prstGeom prst="rect">
            <a:avLst/>
          </a:prstGeom>
          <a:noFill/>
          <a:ln/>
        </p:spPr>
        <p:txBody>
          <a:bodyPr wrap="square" lIns="0" tIns="0" rIns="0" bIns="0" rtlCol="0" anchor="ctr"/>
          <a:lstStyle/>
          <a:p>
            <a:pPr marL="0" indent="0" algn="ctr">
              <a:buNone/>
            </a:pPr>
            <a:r>
              <a:rPr lang="en-US" sz="1100" dirty="0">
                <a:solidFill>
                  <a:srgbClr val="2D2D2D"/>
                </a:solidFill>
                <a:latin typeface="Circular Std Medium" panose="020B0604020101010102" pitchFamily="34" charset="77"/>
                <a:ea typeface="Arial" pitchFamily="34" charset="-122"/>
                <a:cs typeface="Circular Std Medium" panose="020B0604020101010102" pitchFamily="34" charset="77"/>
              </a:rPr>
              <a:t>valeur à neuf (sans vétusté)</a:t>
            </a:r>
            <a:endParaRPr lang="en-US" sz="1100" dirty="0">
              <a:latin typeface="Circular Std Medium" panose="020B0604020101010102" pitchFamily="34" charset="77"/>
              <a:cs typeface="Circular Std Medium" panose="020B0604020101010102" pitchFamily="34" charset="77"/>
            </a:endParaRPr>
          </a:p>
        </p:txBody>
      </p:sp>
      <p:sp>
        <p:nvSpPr>
          <p:cNvPr id="13" name="Shape 11"/>
          <p:cNvSpPr/>
          <p:nvPr/>
        </p:nvSpPr>
        <p:spPr>
          <a:xfrm>
            <a:off x="6903720" y="1097280"/>
            <a:ext cx="2011680" cy="16459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4" name="Text 12"/>
          <p:cNvSpPr/>
          <p:nvPr/>
        </p:nvSpPr>
        <p:spPr>
          <a:xfrm>
            <a:off x="6903720" y="1234440"/>
            <a:ext cx="2011680" cy="822960"/>
          </a:xfrm>
          <a:prstGeom prst="rect">
            <a:avLst/>
          </a:prstGeom>
          <a:noFill/>
          <a:ln/>
        </p:spPr>
        <p:txBody>
          <a:bodyPr wrap="square" lIns="0" tIns="0" rIns="0" bIns="0" rtlCol="0" anchor="ctr"/>
          <a:lstStyle/>
          <a:p>
            <a:pPr marL="0" indent="0" algn="ctr">
              <a:buNone/>
            </a:pPr>
            <a:r>
              <a:rPr lang="en-US" sz="3600" b="1" dirty="0">
                <a:solidFill>
                  <a:srgbClr val="666666"/>
                </a:solidFill>
                <a:latin typeface="Circular Std Medium" panose="020B0604020101010102" pitchFamily="34" charset="77"/>
                <a:ea typeface="Arial" pitchFamily="34" charset="-122"/>
                <a:cs typeface="Circular Std Medium" panose="020B0604020101010102" pitchFamily="34" charset="77"/>
              </a:rPr>
              <a:t>1/an</a:t>
            </a:r>
            <a:endParaRPr lang="en-US" sz="3600" dirty="0">
              <a:latin typeface="Circular Std Medium" panose="020B0604020101010102" pitchFamily="34" charset="77"/>
              <a:cs typeface="Circular Std Medium" panose="020B0604020101010102" pitchFamily="34" charset="77"/>
            </a:endParaRPr>
          </a:p>
        </p:txBody>
      </p:sp>
      <p:sp>
        <p:nvSpPr>
          <p:cNvPr id="15" name="Text 13"/>
          <p:cNvSpPr/>
          <p:nvPr/>
        </p:nvSpPr>
        <p:spPr>
          <a:xfrm>
            <a:off x="6995160" y="2103120"/>
            <a:ext cx="1828800" cy="548640"/>
          </a:xfrm>
          <a:prstGeom prst="rect">
            <a:avLst/>
          </a:prstGeom>
          <a:noFill/>
          <a:ln/>
        </p:spPr>
        <p:txBody>
          <a:bodyPr wrap="square" lIns="0" tIns="0" rIns="0" bIns="0" rtlCol="0" anchor="ctr"/>
          <a:lstStyle/>
          <a:p>
            <a:pPr marL="0" indent="0" algn="ctr">
              <a:buNone/>
            </a:pPr>
            <a:r>
              <a:rPr lang="en-US" sz="1100" dirty="0">
                <a:solidFill>
                  <a:srgbClr val="2D2D2D"/>
                </a:solidFill>
                <a:latin typeface="Circular Std Medium" panose="020B0604020101010102" pitchFamily="34" charset="77"/>
                <a:ea typeface="Arial" pitchFamily="34" charset="-122"/>
                <a:cs typeface="Circular Std Medium" panose="020B0604020101010102" pitchFamily="34" charset="77"/>
              </a:rPr>
              <a:t>sinistre par contrat</a:t>
            </a:r>
            <a:endParaRPr lang="en-US" sz="1100" dirty="0">
              <a:latin typeface="Circular Std Medium" panose="020B0604020101010102" pitchFamily="34" charset="77"/>
              <a:cs typeface="Circular Std Medium" panose="020B0604020101010102" pitchFamily="34" charset="77"/>
            </a:endParaRPr>
          </a:p>
        </p:txBody>
      </p:sp>
      <p:sp>
        <p:nvSpPr>
          <p:cNvPr id="16" name="Text 14"/>
          <p:cNvSpPr/>
          <p:nvPr/>
        </p:nvSpPr>
        <p:spPr>
          <a:xfrm>
            <a:off x="457200" y="3108960"/>
            <a:ext cx="8229600" cy="36576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Bon d'achat</a:t>
            </a:r>
            <a:r>
              <a:rPr lang="en-US" sz="1600" dirty="0">
                <a:solidFill>
                  <a:srgbClr val="2D2D2D"/>
                </a:solidFill>
                <a:latin typeface="Circular Std Medium" panose="020B0604020101010102" pitchFamily="34" charset="77"/>
                <a:ea typeface="Arial" pitchFamily="34" charset="-122"/>
                <a:cs typeface="Circular Std Medium" panose="020B0604020101010102" pitchFamily="34" charset="77"/>
              </a:rPr>
              <a:t> du montant du produit, valable 12 mois, utilisable en magasin ou sur but.fr</a:t>
            </a:r>
            <a:endParaRPr lang="en-US" sz="1600" dirty="0">
              <a:latin typeface="Circular Std Medium" panose="020B0604020101010102" pitchFamily="34" charset="77"/>
              <a:cs typeface="Circular Std Medium" panose="020B0604020101010102" pitchFamily="34" charset="77"/>
            </a:endParaRPr>
          </a:p>
        </p:txBody>
      </p:sp>
      <p:sp>
        <p:nvSpPr>
          <p:cNvPr id="17" name="Text 15"/>
          <p:cNvSpPr/>
          <p:nvPr/>
        </p:nvSpPr>
        <p:spPr>
          <a:xfrm>
            <a:off x="457200" y="3566160"/>
            <a:ext cx="8229600" cy="36576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Durée : </a:t>
            </a:r>
            <a:r>
              <a:rPr lang="en-US" sz="1600" dirty="0">
                <a:solidFill>
                  <a:srgbClr val="2D2D2D"/>
                </a:solidFill>
                <a:latin typeface="Circular Std Medium" panose="020B0604020101010102" pitchFamily="34" charset="77"/>
                <a:ea typeface="Arial" pitchFamily="34" charset="-122"/>
                <a:cs typeface="Circular Std Medium" panose="020B0604020101010102" pitchFamily="34" charset="77"/>
              </a:rPr>
              <a:t>12 ou 24 mois au choix</a:t>
            </a:r>
            <a:endParaRPr lang="en-US" sz="1600" dirty="0">
              <a:latin typeface="Circular Std Medium" panose="020B0604020101010102" pitchFamily="34" charset="77"/>
              <a:cs typeface="Circular Std Medium" panose="020B0604020101010102" pitchFamily="34" charset="77"/>
            </a:endParaRPr>
          </a:p>
        </p:txBody>
      </p:sp>
      <p:sp>
        <p:nvSpPr>
          <p:cNvPr id="18" name="Text 16"/>
          <p:cNvSpPr/>
          <p:nvPr/>
        </p:nvSpPr>
        <p:spPr>
          <a:xfrm>
            <a:off x="457200" y="4023360"/>
            <a:ext cx="8229600" cy="36576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Souscription : </a:t>
            </a:r>
            <a:r>
              <a:rPr lang="en-US" sz="1600" dirty="0">
                <a:solidFill>
                  <a:srgbClr val="2D2D2D"/>
                </a:solidFill>
                <a:latin typeface="Circular Std Medium" panose="020B0604020101010102" pitchFamily="34" charset="77"/>
                <a:ea typeface="Arial" pitchFamily="34" charset="-122"/>
                <a:cs typeface="Circular Std Medium" panose="020B0604020101010102" pitchFamily="34" charset="77"/>
              </a:rPr>
              <a:t>uniquement le jour de </a:t>
            </a:r>
            <a:r>
              <a:rPr lang="en-US" sz="1600" dirty="0" err="1">
                <a:solidFill>
                  <a:srgbClr val="2D2D2D"/>
                </a:solidFill>
                <a:latin typeface="Circular Std Medium" panose="020B0604020101010102" pitchFamily="34" charset="77"/>
                <a:ea typeface="Arial" pitchFamily="34" charset="-122"/>
                <a:cs typeface="Circular Std Medium" panose="020B0604020101010102" pitchFamily="34" charset="77"/>
              </a:rPr>
              <a:t>l'achat</a:t>
            </a:r>
            <a:endParaRPr lang="en-US" sz="1600" dirty="0">
              <a:latin typeface="Circular Std Medium" panose="020B0604020101010102" pitchFamily="34" charset="77"/>
              <a:cs typeface="Circular Std Medium" panose="020B0604020101010102" pitchFamily="34" charset="77"/>
            </a:endParaRPr>
          </a:p>
        </p:txBody>
      </p:sp>
      <p:sp>
        <p:nvSpPr>
          <p:cNvPr id="19" name="Shape 17"/>
          <p:cNvSpPr/>
          <p:nvPr/>
        </p:nvSpPr>
        <p:spPr>
          <a:xfrm>
            <a:off x="457200" y="4572000"/>
            <a:ext cx="8229600" cy="457200"/>
          </a:xfrm>
          <a:prstGeom prst="rect">
            <a:avLst/>
          </a:prstGeom>
          <a:solidFill>
            <a:srgbClr val="FFF3E0"/>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20" name="Text 18"/>
          <p:cNvSpPr/>
          <p:nvPr/>
        </p:nvSpPr>
        <p:spPr>
          <a:xfrm>
            <a:off x="640080" y="4617720"/>
            <a:ext cx="7863840" cy="365760"/>
          </a:xfrm>
          <a:prstGeom prst="rect">
            <a:avLst/>
          </a:prstGeom>
          <a:noFill/>
          <a:ln/>
        </p:spPr>
        <p:txBody>
          <a:bodyPr wrap="square" lIns="0" tIns="0" rIns="0" bIns="0" rtlCol="0" anchor="ctr"/>
          <a:lstStyle/>
          <a:p>
            <a:pPr marL="0" indent="0">
              <a:buNone/>
            </a:pPr>
            <a:r>
              <a:rPr lang="en-US" sz="1400" b="1" dirty="0">
                <a:solidFill>
                  <a:srgbClr val="F57C00"/>
                </a:solidFill>
                <a:latin typeface="Circular Std Medium" panose="020B0604020101010102" pitchFamily="34" charset="77"/>
                <a:ea typeface="Arial" pitchFamily="34" charset="-122"/>
                <a:cs typeface="Circular Std Medium" panose="020B0604020101010102" pitchFamily="34" charset="77"/>
              </a:rPr>
              <a:t>⚠ Point critique : on ne peut pas rajouter la protection après l'achat.</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Produits éligibles</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600" dirty="0">
                <a:solidFill>
                  <a:srgbClr val="666666"/>
                </a:solidFill>
                <a:latin typeface="Circular Std Medium" panose="020B0604020101010102" pitchFamily="34" charset="77"/>
                <a:ea typeface="Arial" pitchFamily="34" charset="-122"/>
                <a:cs typeface="Circular Std Medium" panose="020B0604020101010102" pitchFamily="34" charset="77"/>
              </a:rPr>
              <a:t>8 </a:t>
            </a:r>
            <a:r>
              <a:rPr lang="en-US" sz="1600" dirty="0" err="1">
                <a:solidFill>
                  <a:srgbClr val="666666"/>
                </a:solidFill>
                <a:latin typeface="Circular Std Medium" panose="020B0604020101010102" pitchFamily="34" charset="77"/>
                <a:ea typeface="Arial" pitchFamily="34" charset="-122"/>
                <a:cs typeface="Circular Std Medium" panose="020B0604020101010102" pitchFamily="34" charset="77"/>
              </a:rPr>
              <a:t>univers</a:t>
            </a:r>
            <a:r>
              <a:rPr lang="en-US" sz="1600" dirty="0">
                <a:solidFill>
                  <a:srgbClr val="666666"/>
                </a:solidFill>
                <a:latin typeface="Circular Std Medium" panose="020B0604020101010102" pitchFamily="34" charset="77"/>
                <a:ea typeface="Arial" pitchFamily="34" charset="-122"/>
                <a:cs typeface="Circular Std Medium" panose="020B0604020101010102" pitchFamily="34" charset="77"/>
              </a:rPr>
              <a:t> </a:t>
            </a:r>
            <a:r>
              <a:rPr lang="en-US" sz="1600" dirty="0" err="1">
                <a:solidFill>
                  <a:srgbClr val="666666"/>
                </a:solidFill>
                <a:latin typeface="Circular Std Medium" panose="020B0604020101010102" pitchFamily="34" charset="77"/>
                <a:ea typeface="Arial" pitchFamily="34" charset="-122"/>
                <a:cs typeface="Circular Std Medium" panose="020B0604020101010102" pitchFamily="34" charset="77"/>
              </a:rPr>
              <a:t>couverts</a:t>
            </a:r>
            <a:r>
              <a:rPr lang="en-US" sz="1600" dirty="0">
                <a:solidFill>
                  <a:srgbClr val="666666"/>
                </a:solidFill>
                <a:latin typeface="Circular Std Medium" panose="020B0604020101010102" pitchFamily="34" charset="77"/>
                <a:ea typeface="Arial" pitchFamily="34" charset="-122"/>
                <a:cs typeface="Circular Std Medium" panose="020B0604020101010102" pitchFamily="34" charset="77"/>
              </a:rPr>
              <a:t>, </a:t>
            </a:r>
            <a:r>
              <a:rPr lang="en-US" sz="1600" dirty="0" err="1">
                <a:solidFill>
                  <a:srgbClr val="666666"/>
                </a:solidFill>
                <a:latin typeface="Circular Std Medium" panose="020B0604020101010102" pitchFamily="34" charset="77"/>
                <a:ea typeface="Arial" pitchFamily="34" charset="-122"/>
                <a:cs typeface="Circular Std Medium" panose="020B0604020101010102" pitchFamily="34" charset="77"/>
              </a:rPr>
              <a:t>valeur</a:t>
            </a:r>
            <a:r>
              <a:rPr lang="en-US" sz="1600" dirty="0">
                <a:solidFill>
                  <a:srgbClr val="666666"/>
                </a:solidFill>
                <a:latin typeface="Circular Std Medium" panose="020B0604020101010102" pitchFamily="34" charset="77"/>
                <a:ea typeface="Arial" pitchFamily="34" charset="-122"/>
                <a:cs typeface="Circular Std Medium" panose="020B0604020101010102" pitchFamily="34" charset="77"/>
              </a:rPr>
              <a:t> max 2 000 € TTC</a:t>
            </a:r>
            <a:endParaRPr lang="en-US" sz="16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37160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37160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Siège</a:t>
            </a:r>
            <a:endParaRPr lang="en-US" sz="14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169164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Canapés, fauteuils</a:t>
            </a:r>
            <a:endParaRPr lang="en-US" sz="1200" dirty="0">
              <a:latin typeface="Circular Std Medium" panose="020B0604020101010102" pitchFamily="34" charset="77"/>
              <a:cs typeface="Circular Std Medium" panose="020B0604020101010102" pitchFamily="34" charset="77"/>
            </a:endParaRPr>
          </a:p>
        </p:txBody>
      </p:sp>
      <p:sp>
        <p:nvSpPr>
          <p:cNvPr id="8" name="Shape 6"/>
          <p:cNvSpPr/>
          <p:nvPr/>
        </p:nvSpPr>
        <p:spPr>
          <a:xfrm>
            <a:off x="4754880" y="137160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9" name="Text 7"/>
          <p:cNvSpPr/>
          <p:nvPr/>
        </p:nvSpPr>
        <p:spPr>
          <a:xfrm>
            <a:off x="4937760" y="137160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Chaises</a:t>
            </a:r>
            <a:endParaRPr lang="en-US" sz="1400" dirty="0">
              <a:latin typeface="Circular Std Medium" panose="020B0604020101010102" pitchFamily="34" charset="77"/>
              <a:cs typeface="Circular Std Medium" panose="020B0604020101010102" pitchFamily="34" charset="77"/>
            </a:endParaRPr>
          </a:p>
        </p:txBody>
      </p:sp>
      <p:sp>
        <p:nvSpPr>
          <p:cNvPr id="10" name="Text 8"/>
          <p:cNvSpPr/>
          <p:nvPr/>
        </p:nvSpPr>
        <p:spPr>
          <a:xfrm>
            <a:off x="4937760" y="169164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Toutes chaises</a:t>
            </a:r>
            <a:endParaRPr lang="en-US" sz="1200" dirty="0">
              <a:latin typeface="Circular Std Medium" panose="020B0604020101010102" pitchFamily="34" charset="77"/>
              <a:cs typeface="Circular Std Medium" panose="020B0604020101010102" pitchFamily="34" charset="77"/>
            </a:endParaRPr>
          </a:p>
        </p:txBody>
      </p:sp>
      <p:sp>
        <p:nvSpPr>
          <p:cNvPr id="11" name="Shape 9"/>
          <p:cNvSpPr/>
          <p:nvPr/>
        </p:nvSpPr>
        <p:spPr>
          <a:xfrm>
            <a:off x="457200" y="219456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2" name="Text 10"/>
          <p:cNvSpPr/>
          <p:nvPr/>
        </p:nvSpPr>
        <p:spPr>
          <a:xfrm>
            <a:off x="640080" y="219456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Literie</a:t>
            </a:r>
            <a:endParaRPr lang="en-US" sz="1400" dirty="0">
              <a:latin typeface="Circular Std Medium" panose="020B0604020101010102" pitchFamily="34" charset="77"/>
              <a:cs typeface="Circular Std Medium" panose="020B0604020101010102" pitchFamily="34" charset="77"/>
            </a:endParaRPr>
          </a:p>
        </p:txBody>
      </p:sp>
      <p:sp>
        <p:nvSpPr>
          <p:cNvPr id="13" name="Text 11"/>
          <p:cNvSpPr/>
          <p:nvPr/>
        </p:nvSpPr>
        <p:spPr>
          <a:xfrm>
            <a:off x="640080" y="251460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Matelas, sommiers, têtes de lit</a:t>
            </a:r>
            <a:endParaRPr lang="en-US" sz="1200" dirty="0">
              <a:latin typeface="Circular Std Medium" panose="020B0604020101010102" pitchFamily="34" charset="77"/>
              <a:cs typeface="Circular Std Medium" panose="020B0604020101010102" pitchFamily="34" charset="77"/>
            </a:endParaRPr>
          </a:p>
        </p:txBody>
      </p:sp>
      <p:sp>
        <p:nvSpPr>
          <p:cNvPr id="14" name="Shape 12"/>
          <p:cNvSpPr/>
          <p:nvPr/>
        </p:nvSpPr>
        <p:spPr>
          <a:xfrm>
            <a:off x="4754880" y="219456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5" name="Text 13"/>
          <p:cNvSpPr/>
          <p:nvPr/>
        </p:nvSpPr>
        <p:spPr>
          <a:xfrm>
            <a:off x="4937760" y="219456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Séjour</a:t>
            </a:r>
            <a:endParaRPr lang="en-US" sz="1400" dirty="0">
              <a:latin typeface="Circular Std Medium" panose="020B0604020101010102" pitchFamily="34" charset="77"/>
              <a:cs typeface="Circular Std Medium" panose="020B0604020101010102" pitchFamily="34" charset="77"/>
            </a:endParaRPr>
          </a:p>
        </p:txBody>
      </p:sp>
      <p:sp>
        <p:nvSpPr>
          <p:cNvPr id="16" name="Text 14"/>
          <p:cNvSpPr/>
          <p:nvPr/>
        </p:nvSpPr>
        <p:spPr>
          <a:xfrm>
            <a:off x="4937760" y="251460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Tables, buffets, meubles TV</a:t>
            </a:r>
            <a:endParaRPr lang="en-US" sz="1200" dirty="0">
              <a:latin typeface="Circular Std Medium" panose="020B0604020101010102" pitchFamily="34" charset="77"/>
              <a:cs typeface="Circular Std Medium" panose="020B0604020101010102" pitchFamily="34" charset="77"/>
            </a:endParaRPr>
          </a:p>
        </p:txBody>
      </p:sp>
      <p:sp>
        <p:nvSpPr>
          <p:cNvPr id="17" name="Shape 15"/>
          <p:cNvSpPr/>
          <p:nvPr/>
        </p:nvSpPr>
        <p:spPr>
          <a:xfrm>
            <a:off x="457200" y="301752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8" name="Text 16"/>
          <p:cNvSpPr/>
          <p:nvPr/>
        </p:nvSpPr>
        <p:spPr>
          <a:xfrm>
            <a:off x="640080" y="301752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Cuisine/Buffet</a:t>
            </a:r>
            <a:endParaRPr lang="en-US" sz="1400" dirty="0">
              <a:latin typeface="Circular Std Medium" panose="020B0604020101010102" pitchFamily="34" charset="77"/>
              <a:cs typeface="Circular Std Medium" panose="020B0604020101010102" pitchFamily="34" charset="77"/>
            </a:endParaRPr>
          </a:p>
        </p:txBody>
      </p:sp>
      <p:sp>
        <p:nvSpPr>
          <p:cNvPr id="19" name="Text 17"/>
          <p:cNvSpPr/>
          <p:nvPr/>
        </p:nvSpPr>
        <p:spPr>
          <a:xfrm>
            <a:off x="640080" y="333756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Tables, chaises, buffets</a:t>
            </a:r>
            <a:endParaRPr lang="en-US" sz="1200" dirty="0">
              <a:latin typeface="Circular Std Medium" panose="020B0604020101010102" pitchFamily="34" charset="77"/>
              <a:cs typeface="Circular Std Medium" panose="020B0604020101010102" pitchFamily="34" charset="77"/>
            </a:endParaRPr>
          </a:p>
        </p:txBody>
      </p:sp>
      <p:sp>
        <p:nvSpPr>
          <p:cNvPr id="20" name="Shape 18"/>
          <p:cNvSpPr/>
          <p:nvPr/>
        </p:nvSpPr>
        <p:spPr>
          <a:xfrm>
            <a:off x="4754880" y="301752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21" name="Text 19"/>
          <p:cNvSpPr/>
          <p:nvPr/>
        </p:nvSpPr>
        <p:spPr>
          <a:xfrm>
            <a:off x="4937760" y="301752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Bureau/Rangement</a:t>
            </a:r>
            <a:endParaRPr lang="en-US" sz="1400" dirty="0">
              <a:latin typeface="Circular Std Medium" panose="020B0604020101010102" pitchFamily="34" charset="77"/>
              <a:cs typeface="Circular Std Medium" panose="020B0604020101010102" pitchFamily="34" charset="77"/>
            </a:endParaRPr>
          </a:p>
        </p:txBody>
      </p:sp>
      <p:sp>
        <p:nvSpPr>
          <p:cNvPr id="22" name="Text 20"/>
          <p:cNvSpPr/>
          <p:nvPr/>
        </p:nvSpPr>
        <p:spPr>
          <a:xfrm>
            <a:off x="4937760" y="333756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Bureaux, étagères, rangements</a:t>
            </a:r>
            <a:endParaRPr lang="en-US" sz="1200" dirty="0">
              <a:latin typeface="Circular Std Medium" panose="020B0604020101010102" pitchFamily="34" charset="77"/>
              <a:cs typeface="Circular Std Medium" panose="020B0604020101010102" pitchFamily="34" charset="77"/>
            </a:endParaRPr>
          </a:p>
        </p:txBody>
      </p:sp>
      <p:sp>
        <p:nvSpPr>
          <p:cNvPr id="23" name="Shape 21"/>
          <p:cNvSpPr/>
          <p:nvPr/>
        </p:nvSpPr>
        <p:spPr>
          <a:xfrm>
            <a:off x="457200" y="384048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24" name="Text 22"/>
          <p:cNvSpPr/>
          <p:nvPr/>
        </p:nvSpPr>
        <p:spPr>
          <a:xfrm>
            <a:off x="640080" y="384048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Chambre</a:t>
            </a:r>
            <a:endParaRPr lang="en-US" sz="1400" dirty="0">
              <a:latin typeface="Circular Std Medium" panose="020B0604020101010102" pitchFamily="34" charset="77"/>
              <a:cs typeface="Circular Std Medium" panose="020B0604020101010102" pitchFamily="34" charset="77"/>
            </a:endParaRPr>
          </a:p>
        </p:txBody>
      </p:sp>
      <p:sp>
        <p:nvSpPr>
          <p:cNvPr id="25" name="Text 23"/>
          <p:cNvSpPr/>
          <p:nvPr/>
        </p:nvSpPr>
        <p:spPr>
          <a:xfrm>
            <a:off x="640080" y="416052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Lits, commodes, armoires</a:t>
            </a:r>
            <a:endParaRPr lang="en-US" sz="1200" dirty="0">
              <a:latin typeface="Circular Std Medium" panose="020B0604020101010102" pitchFamily="34" charset="77"/>
              <a:cs typeface="Circular Std Medium" panose="020B0604020101010102" pitchFamily="34" charset="77"/>
            </a:endParaRPr>
          </a:p>
        </p:txBody>
      </p:sp>
      <p:sp>
        <p:nvSpPr>
          <p:cNvPr id="26" name="Shape 24"/>
          <p:cNvSpPr/>
          <p:nvPr/>
        </p:nvSpPr>
        <p:spPr>
          <a:xfrm>
            <a:off x="4754880" y="3840480"/>
            <a:ext cx="73152" cy="64008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27" name="Text 25"/>
          <p:cNvSpPr/>
          <p:nvPr/>
        </p:nvSpPr>
        <p:spPr>
          <a:xfrm>
            <a:off x="4937760" y="3840480"/>
            <a:ext cx="18288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Décoration</a:t>
            </a:r>
            <a:endParaRPr lang="en-US" sz="1400" dirty="0">
              <a:latin typeface="Circular Std Medium" panose="020B0604020101010102" pitchFamily="34" charset="77"/>
              <a:cs typeface="Circular Std Medium" panose="020B0604020101010102" pitchFamily="34" charset="77"/>
            </a:endParaRPr>
          </a:p>
        </p:txBody>
      </p:sp>
      <p:sp>
        <p:nvSpPr>
          <p:cNvPr id="28" name="Text 26"/>
          <p:cNvSpPr/>
          <p:nvPr/>
        </p:nvSpPr>
        <p:spPr>
          <a:xfrm>
            <a:off x="4937760" y="4160520"/>
            <a:ext cx="3931920" cy="32004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Tapis, miroirs</a:t>
            </a:r>
            <a:endParaRPr lang="en-US" sz="1200" dirty="0">
              <a:latin typeface="Circular Std Medium" panose="020B0604020101010102" pitchFamily="34" charset="77"/>
              <a:cs typeface="Circular Std Medium" panose="020B0604020101010102" pitchFamily="34" charset="77"/>
            </a:endParaRPr>
          </a:p>
        </p:txBody>
      </p:sp>
      <p:sp>
        <p:nvSpPr>
          <p:cNvPr id="29" name="Shape 27"/>
          <p:cNvSpPr/>
          <p:nvPr/>
        </p:nvSpPr>
        <p:spPr>
          <a:xfrm>
            <a:off x="457200" y="4572000"/>
            <a:ext cx="8229600" cy="457200"/>
          </a:xfrm>
          <a:prstGeom prst="rect">
            <a:avLst/>
          </a:prstGeom>
          <a:solidFill>
            <a:srgbClr val="FFEBEE"/>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0" name="Text 28"/>
          <p:cNvSpPr/>
          <p:nvPr/>
        </p:nvSpPr>
        <p:spPr>
          <a:xfrm>
            <a:off x="640080" y="4617720"/>
            <a:ext cx="7863840" cy="365760"/>
          </a:xfrm>
          <a:prstGeom prst="rect">
            <a:avLst/>
          </a:prstGeom>
          <a:noFill/>
          <a:ln/>
        </p:spPr>
        <p:txBody>
          <a:bodyPr wrap="square" lIns="0" tIns="0" rIns="0" bIns="0" rtlCol="0" anchor="ctr"/>
          <a:lstStyle/>
          <a:p>
            <a:pPr marL="0" indent="0">
              <a:buNone/>
            </a:pPr>
            <a:r>
              <a:rPr lang="en-US" sz="1300" dirty="0">
                <a:solidFill>
                  <a:srgbClr val="E30613"/>
                </a:solidFill>
                <a:latin typeface="Circular Std Medium" panose="020B0604020101010102" pitchFamily="34" charset="77"/>
                <a:ea typeface="Arial" pitchFamily="34" charset="-122"/>
                <a:cs typeface="Circular Std Medium" panose="020B0604020101010102" pitchFamily="34" charset="77"/>
              </a:rPr>
              <a:t>Exclus : électroménager, image et son, produits reconditionnés/occasion</a:t>
            </a:r>
            <a:endParaRPr lang="en-US" sz="13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Tarifs — Univers Siège</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400" i="1" dirty="0">
                <a:solidFill>
                  <a:srgbClr val="666666"/>
                </a:solidFill>
                <a:latin typeface="Circular Std Medium" panose="020B0604020101010102" pitchFamily="34" charset="77"/>
                <a:ea typeface="Arial" pitchFamily="34" charset="-122"/>
                <a:cs typeface="Circular Std Medium" panose="020B0604020101010102" pitchFamily="34" charset="77"/>
              </a:rPr>
              <a:t>Canapés et fauteuils</a:t>
            </a:r>
            <a:endParaRPr lang="en-US" sz="1400" dirty="0">
              <a:latin typeface="Circular Std Medium" panose="020B0604020101010102" pitchFamily="34" charset="77"/>
              <a:cs typeface="Circular Std Medium" panose="020B0604020101010102" pitchFamily="34" charset="77"/>
            </a:endParaRPr>
          </a:p>
        </p:txBody>
      </p:sp>
      <p:graphicFrame>
        <p:nvGraphicFramePr>
          <p:cNvPr id="8" name="Table 0"/>
          <p:cNvGraphicFramePr>
            <a:graphicFrameLocks noGrp="1"/>
          </p:cNvGraphicFramePr>
          <p:nvPr>
            <p:extLst>
              <p:ext uri="{D42A27DB-BD31-4B8C-83A1-F6EECF244321}">
                <p14:modId xmlns:p14="http://schemas.microsoft.com/office/powerpoint/2010/main" val="1986690780"/>
              </p:ext>
            </p:extLst>
          </p:nvPr>
        </p:nvGraphicFramePr>
        <p:xfrm>
          <a:off x="457200" y="1371600"/>
          <a:ext cx="8229600" cy="3072384"/>
        </p:xfrm>
        <a:graphic>
          <a:graphicData uri="http://schemas.openxmlformats.org/drawingml/2006/table">
            <a:tbl>
              <a:tblPr/>
              <a:tblGrid>
                <a:gridCol w="3657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chemeClr val="bg1"/>
                          </a:solidFill>
                          <a:latin typeface="Circular Std Medium" panose="020B0604020101010102" pitchFamily="34" charset="77"/>
                          <a:ea typeface="Arial" pitchFamily="34" charset="-122"/>
                          <a:cs typeface="Circular Std Medium" panose="020B0604020101010102" pitchFamily="34" charset="77"/>
                        </a:rPr>
                        <a:t>Tranche prix achat</a:t>
                      </a:r>
                      <a:endParaRPr lang="en-US" sz="14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0000"/>
                    </a:solidFill>
                  </a:tcPr>
                </a:tc>
                <a:tc>
                  <a:txBody>
                    <a:bodyPr/>
                    <a:lstStyle/>
                    <a:p>
                      <a:pPr marL="0" indent="0" algn="ctr">
                        <a:buNone/>
                      </a:pPr>
                      <a:r>
                        <a:rPr lang="en-US" sz="1400" b="1" dirty="0">
                          <a:solidFill>
                            <a:schemeClr val="bg1"/>
                          </a:solidFill>
                          <a:latin typeface="Circular Std Medium" panose="020B0604020101010102" pitchFamily="34" charset="77"/>
                          <a:ea typeface="Arial" pitchFamily="34" charset="-122"/>
                          <a:cs typeface="Circular Std Medium" panose="020B0604020101010102" pitchFamily="34" charset="77"/>
                        </a:rPr>
                        <a:t>12 mois</a:t>
                      </a:r>
                      <a:endParaRPr lang="en-US" sz="14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0000"/>
                    </a:solidFill>
                  </a:tcPr>
                </a:tc>
                <a:tc>
                  <a:txBody>
                    <a:bodyPr/>
                    <a:lstStyle/>
                    <a:p>
                      <a:pPr marL="0" indent="0" algn="ctr">
                        <a:buNone/>
                      </a:pPr>
                      <a:r>
                        <a:rPr lang="en-US" sz="1400" b="1" dirty="0">
                          <a:solidFill>
                            <a:schemeClr val="bg1"/>
                          </a:solidFill>
                          <a:latin typeface="Circular Std Medium" panose="020B0604020101010102" pitchFamily="34" charset="77"/>
                          <a:ea typeface="Arial" pitchFamily="34" charset="-122"/>
                          <a:cs typeface="Circular Std Medium" panose="020B0604020101010102" pitchFamily="34" charset="77"/>
                        </a:rPr>
                        <a:t>24 mois</a:t>
                      </a:r>
                      <a:endParaRPr lang="en-US" sz="14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0 € - 149 €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20 €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150 € - 299 €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25 €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35 €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300 € - 499 €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35 €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55 €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500 € - 699 €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50 €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70 €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700 € - 999 €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70 €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100 €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1 000 € - 1 499 €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90 €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135 €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1 500 € et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130 €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200 €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Tarifs — Autres univers</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400" i="1" dirty="0">
                <a:solidFill>
                  <a:srgbClr val="666666"/>
                </a:solidFill>
                <a:latin typeface="Circular Std Medium" panose="020B0604020101010102" pitchFamily="34" charset="77"/>
                <a:ea typeface="Arial" pitchFamily="34" charset="-122"/>
                <a:cs typeface="Circular Std Medium" panose="020B0604020101010102" pitchFamily="34" charset="77"/>
              </a:rPr>
              <a:t>Literie, Séjour, Cuisine/Buffet, Bureau/Rangement, Chambre, Décoration, Chaises</a:t>
            </a:r>
            <a:endParaRPr lang="en-US" sz="1400" dirty="0">
              <a:latin typeface="Circular Std Medium" panose="020B0604020101010102" pitchFamily="34" charset="77"/>
              <a:cs typeface="Circular Std Medium" panose="020B0604020101010102" pitchFamily="34" charset="77"/>
            </a:endParaRPr>
          </a:p>
        </p:txBody>
      </p:sp>
      <p:graphicFrame>
        <p:nvGraphicFramePr>
          <p:cNvPr id="9" name="Table 0"/>
          <p:cNvGraphicFramePr>
            <a:graphicFrameLocks noGrp="1"/>
          </p:cNvGraphicFramePr>
          <p:nvPr>
            <p:extLst>
              <p:ext uri="{D42A27DB-BD31-4B8C-83A1-F6EECF244321}">
                <p14:modId xmlns:p14="http://schemas.microsoft.com/office/powerpoint/2010/main" val="3779254168"/>
              </p:ext>
            </p:extLst>
          </p:nvPr>
        </p:nvGraphicFramePr>
        <p:xfrm>
          <a:off x="457200" y="1371600"/>
          <a:ext cx="8229600" cy="3072384"/>
        </p:xfrm>
        <a:graphic>
          <a:graphicData uri="http://schemas.openxmlformats.org/drawingml/2006/table">
            <a:tbl>
              <a:tblPr/>
              <a:tblGrid>
                <a:gridCol w="3657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lgn="ctr">
                        <a:buNone/>
                      </a:pPr>
                      <a:r>
                        <a:rPr lang="en-US" sz="1400" b="1" dirty="0">
                          <a:solidFill>
                            <a:schemeClr val="bg1"/>
                          </a:solidFill>
                          <a:latin typeface="Circular Std Medium" panose="020B0604020101010102" pitchFamily="34" charset="77"/>
                          <a:ea typeface="Arial" pitchFamily="34" charset="-122"/>
                          <a:cs typeface="Circular Std Medium" panose="020B0604020101010102" pitchFamily="34" charset="77"/>
                        </a:rPr>
                        <a:t>Tranche prix achat</a:t>
                      </a:r>
                      <a:endParaRPr lang="en-US" sz="14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tx1">
                        <a:lumMod val="85000"/>
                        <a:lumOff val="15000"/>
                      </a:schemeClr>
                    </a:solidFill>
                  </a:tcPr>
                </a:tc>
                <a:tc>
                  <a:txBody>
                    <a:bodyPr/>
                    <a:lstStyle/>
                    <a:p>
                      <a:pPr marL="0" indent="0" algn="ctr">
                        <a:buNone/>
                      </a:pPr>
                      <a:r>
                        <a:rPr lang="en-US" sz="1400" b="1" dirty="0">
                          <a:solidFill>
                            <a:schemeClr val="bg1"/>
                          </a:solidFill>
                          <a:latin typeface="Circular Std Medium" panose="020B0604020101010102" pitchFamily="34" charset="77"/>
                          <a:ea typeface="Arial" pitchFamily="34" charset="-122"/>
                          <a:cs typeface="Circular Std Medium" panose="020B0604020101010102" pitchFamily="34" charset="77"/>
                        </a:rPr>
                        <a:t>12 mois</a:t>
                      </a:r>
                      <a:endParaRPr lang="en-US" sz="14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tx1">
                        <a:lumMod val="85000"/>
                        <a:lumOff val="15000"/>
                      </a:schemeClr>
                    </a:solidFill>
                  </a:tcPr>
                </a:tc>
                <a:tc>
                  <a:txBody>
                    <a:bodyPr/>
                    <a:lstStyle/>
                    <a:p>
                      <a:pPr marL="0" indent="0" algn="ctr">
                        <a:buNone/>
                      </a:pPr>
                      <a:r>
                        <a:rPr lang="en-US" sz="1400" b="1" dirty="0">
                          <a:solidFill>
                            <a:schemeClr val="bg1"/>
                          </a:solidFill>
                          <a:latin typeface="Circular Std Medium" panose="020B0604020101010102" pitchFamily="34" charset="77"/>
                          <a:ea typeface="Arial" pitchFamily="34" charset="-122"/>
                          <a:cs typeface="Circular Std Medium" panose="020B0604020101010102" pitchFamily="34" charset="77"/>
                        </a:rPr>
                        <a:t>24 mois</a:t>
                      </a:r>
                      <a:endParaRPr lang="en-US" sz="14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chemeClr val="tx1">
                        <a:lumMod val="85000"/>
                        <a:lumOff val="15000"/>
                      </a:schemeClr>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0 € - 149 €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150 € - 299 €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18 €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29 €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300 € - 499 €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30 €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48 €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500 € - 699 €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42 €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68 €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700 € - 999 €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60 €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97 €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1 000 € - 1 499 €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90 €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145 €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84048">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1 500 € et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119 €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193 €</a:t>
                      </a:r>
                      <a:endParaRPr lang="en-US" sz="14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457200" y="4663440"/>
            <a:ext cx="8229600" cy="365760"/>
          </a:xfrm>
          <a:prstGeom prst="rect">
            <a:avLst/>
          </a:prstGeom>
          <a:noFill/>
          <a:ln/>
        </p:spPr>
        <p:txBody>
          <a:bodyPr wrap="square" lIns="0" tIns="0" rIns="0" bIns="0" rtlCol="0" anchor="ctr"/>
          <a:lstStyle/>
          <a:p>
            <a:pPr marL="0" indent="0">
              <a:buNone/>
            </a:pP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Tous les prix sont TTC (prime HT + 9% TCA)</a:t>
            </a:r>
            <a:endParaRPr lang="en-US" sz="12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Points d'attention — Exclusions</a:t>
            </a:r>
            <a:endParaRPr lang="en-US" sz="2800" dirty="0">
              <a:latin typeface="Circular Std Medium" panose="020B0604020101010102" pitchFamily="34" charset="77"/>
              <a:cs typeface="Circular Std Medium" panose="020B0604020101010102" pitchFamily="34" charset="77"/>
            </a:endParaRPr>
          </a:p>
        </p:txBody>
      </p:sp>
      <p:sp>
        <p:nvSpPr>
          <p:cNvPr id="4" name="Shape 2"/>
          <p:cNvSpPr/>
          <p:nvPr/>
        </p:nvSpPr>
        <p:spPr>
          <a:xfrm>
            <a:off x="457200" y="1005840"/>
            <a:ext cx="4023360" cy="1463040"/>
          </a:xfrm>
          <a:prstGeom prst="rect">
            <a:avLst/>
          </a:prstGeom>
          <a:solidFill>
            <a:srgbClr val="FFEBEE"/>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5" name="Text 3"/>
          <p:cNvSpPr/>
          <p:nvPr/>
        </p:nvSpPr>
        <p:spPr>
          <a:xfrm>
            <a:off x="640080" y="1097280"/>
            <a:ext cx="3657600" cy="365760"/>
          </a:xfrm>
          <a:prstGeom prst="rect">
            <a:avLst/>
          </a:prstGeom>
          <a:noFill/>
          <a:ln/>
        </p:spPr>
        <p:txBody>
          <a:bodyPr wrap="square" lIns="0" tIns="0" rIns="0" bIns="0" rtlCol="0" anchor="ctr"/>
          <a:lstStyle/>
          <a:p>
            <a:pPr marL="0" indent="0">
              <a:buNone/>
            </a:pPr>
            <a:r>
              <a:rPr lang="en-US" sz="1600" b="1" dirty="0">
                <a:solidFill>
                  <a:srgbClr val="E30613"/>
                </a:solidFill>
                <a:latin typeface="Circular Std Medium" panose="020B0604020101010102" pitchFamily="34" charset="77"/>
                <a:ea typeface="Arial" pitchFamily="34" charset="-122"/>
                <a:cs typeface="Circular Std Medium" panose="020B0604020101010102" pitchFamily="34" charset="77"/>
              </a:rPr>
              <a:t>🐾 Dommages animaux</a:t>
            </a:r>
            <a:endParaRPr lang="en-US" sz="1600" dirty="0">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508760"/>
            <a:ext cx="3657600" cy="914400"/>
          </a:xfrm>
          <a:prstGeom prst="rect">
            <a:avLst/>
          </a:prstGeom>
          <a:noFill/>
          <a:ln/>
        </p:spPr>
        <p:txBody>
          <a:bodyPr wrap="square" lIns="0" tIns="0" rIns="0" bIns="0" rtlCol="0" anchor="ctr"/>
          <a:lstStyle/>
          <a:p>
            <a:pPr marL="0" indent="0">
              <a:buNone/>
            </a:pPr>
            <a:r>
              <a:rPr lang="en-US" sz="1200" dirty="0">
                <a:solidFill>
                  <a:srgbClr val="2D2D2D"/>
                </a:solidFill>
                <a:latin typeface="Circular Std Medium" panose="020B0604020101010102" pitchFamily="34" charset="77"/>
                <a:ea typeface="Arial" pitchFamily="34" charset="-122"/>
                <a:cs typeface="Circular Std Medium" panose="020B0604020101010102" pitchFamily="34" charset="77"/>
              </a:rPr>
              <a:t>Griffures, morsures, déjections ne sont PAS couvertes. C'est une exclusion standard du marché. Le vendeur doit le savoir pour ne pas créer de fausse attente.</a:t>
            </a:r>
            <a:endParaRPr lang="en-US" sz="1200" dirty="0">
              <a:latin typeface="Circular Std Medium" panose="020B0604020101010102" pitchFamily="34" charset="77"/>
              <a:cs typeface="Circular Std Medium" panose="020B0604020101010102" pitchFamily="34" charset="77"/>
            </a:endParaRPr>
          </a:p>
        </p:txBody>
      </p:sp>
      <p:sp>
        <p:nvSpPr>
          <p:cNvPr id="7" name="Shape 5"/>
          <p:cNvSpPr/>
          <p:nvPr/>
        </p:nvSpPr>
        <p:spPr>
          <a:xfrm>
            <a:off x="4663440" y="1005840"/>
            <a:ext cx="4023360" cy="1463040"/>
          </a:xfrm>
          <a:prstGeom prst="rect">
            <a:avLst/>
          </a:prstGeom>
          <a:solidFill>
            <a:srgbClr val="FFF3E0"/>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8" name="Text 6"/>
          <p:cNvSpPr/>
          <p:nvPr/>
        </p:nvSpPr>
        <p:spPr>
          <a:xfrm>
            <a:off x="4846320" y="1097280"/>
            <a:ext cx="3657600" cy="365760"/>
          </a:xfrm>
          <a:prstGeom prst="rect">
            <a:avLst/>
          </a:prstGeom>
          <a:noFill/>
          <a:ln/>
        </p:spPr>
        <p:txBody>
          <a:bodyPr wrap="square" lIns="0" tIns="0" rIns="0" bIns="0" rtlCol="0" anchor="ctr"/>
          <a:lstStyle/>
          <a:p>
            <a:pPr marL="0" indent="0">
              <a:buNone/>
            </a:pPr>
            <a:r>
              <a:rPr lang="en-US" sz="1600" b="1" dirty="0">
                <a:solidFill>
                  <a:srgbClr val="F57C00"/>
                </a:solidFill>
                <a:latin typeface="Circular Std Medium" panose="020B0604020101010102" pitchFamily="34" charset="77"/>
                <a:ea typeface="Arial" pitchFamily="34" charset="-122"/>
                <a:cs typeface="Circular Std Medium" panose="020B0604020101010102" pitchFamily="34" charset="77"/>
              </a:rPr>
              <a:t>🛋️ Simili-cuir / PU / Bycast</a:t>
            </a:r>
            <a:endParaRPr lang="en-US" sz="16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4846320" y="1508760"/>
            <a:ext cx="3657600" cy="914400"/>
          </a:xfrm>
          <a:prstGeom prst="rect">
            <a:avLst/>
          </a:prstGeom>
          <a:noFill/>
          <a:ln/>
        </p:spPr>
        <p:txBody>
          <a:bodyPr wrap="square" lIns="0" tIns="0" rIns="0" bIns="0" rtlCol="0" anchor="ctr"/>
          <a:lstStyle/>
          <a:p>
            <a:pPr marL="0" indent="0">
              <a:buNone/>
            </a:pPr>
            <a:r>
              <a:rPr lang="en-US" sz="1200" dirty="0">
                <a:solidFill>
                  <a:srgbClr val="2D2D2D"/>
                </a:solidFill>
                <a:latin typeface="Circular Std Medium" panose="020B0604020101010102" pitchFamily="34" charset="77"/>
                <a:ea typeface="Arial" pitchFamily="34" charset="-122"/>
                <a:cs typeface="Circular Std Medium" panose="020B0604020101010102" pitchFamily="34" charset="77"/>
              </a:rPr>
              <a:t>Couverture limitée : taches, déchirures, brûlures OK. Pelage, craquelure, effritement = exclus (vieillissement naturel du matériau).</a:t>
            </a:r>
            <a:endParaRPr lang="en-US" sz="1200" dirty="0">
              <a:latin typeface="Circular Std Medium" panose="020B0604020101010102" pitchFamily="34" charset="77"/>
              <a:cs typeface="Circular Std Medium" panose="020B0604020101010102" pitchFamily="34" charset="77"/>
            </a:endParaRPr>
          </a:p>
        </p:txBody>
      </p:sp>
      <p:sp>
        <p:nvSpPr>
          <p:cNvPr id="10" name="Shape 8"/>
          <p:cNvSpPr/>
          <p:nvPr/>
        </p:nvSpPr>
        <p:spPr>
          <a:xfrm>
            <a:off x="457200" y="2651760"/>
            <a:ext cx="4023360" cy="11887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1" name="Text 9"/>
          <p:cNvSpPr/>
          <p:nvPr/>
        </p:nvSpPr>
        <p:spPr>
          <a:xfrm>
            <a:off x="640080" y="2743200"/>
            <a:ext cx="36576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Matières non éligibles</a:t>
            </a:r>
            <a:endParaRPr lang="en-US" sz="1400" dirty="0">
              <a:latin typeface="Circular Std Medium" panose="020B0604020101010102" pitchFamily="34" charset="77"/>
              <a:cs typeface="Circular Std Medium" panose="020B0604020101010102" pitchFamily="34" charset="77"/>
            </a:endParaRPr>
          </a:p>
        </p:txBody>
      </p:sp>
      <p:sp>
        <p:nvSpPr>
          <p:cNvPr id="12" name="Text 10"/>
          <p:cNvSpPr/>
          <p:nvPr/>
        </p:nvSpPr>
        <p:spPr>
          <a:xfrm>
            <a:off x="640080" y="3108960"/>
            <a:ext cx="3657600" cy="640080"/>
          </a:xfrm>
          <a:prstGeom prst="rect">
            <a:avLst/>
          </a:prstGeom>
          <a:noFill/>
          <a:ln/>
        </p:spPr>
        <p:txBody>
          <a:bodyPr wrap="square" lIns="0" tIns="0" rIns="0" bIns="0" rtlCol="0" anchor="ctr"/>
          <a:lstStyle/>
          <a:p>
            <a:pPr marL="0" indent="0">
              <a:buNone/>
            </a:pPr>
            <a:r>
              <a:rPr lang="en-US" sz="1200" dirty="0">
                <a:solidFill>
                  <a:srgbClr val="2D2D2D"/>
                </a:solidFill>
                <a:latin typeface="Circular Std Medium" panose="020B0604020101010102" pitchFamily="34" charset="77"/>
                <a:ea typeface="Arial" pitchFamily="34" charset="-122"/>
                <a:cs typeface="Circular Std Medium" panose="020B0604020101010102" pitchFamily="34" charset="77"/>
              </a:rPr>
              <a:t>Nubuck, soie, tissus "nettoyage à sec uniquement" → refuser la souscription sur ces matières.</a:t>
            </a:r>
            <a:endParaRPr lang="en-US" sz="1200" dirty="0">
              <a:latin typeface="Circular Std Medium" panose="020B0604020101010102" pitchFamily="34" charset="77"/>
              <a:cs typeface="Circular Std Medium" panose="020B0604020101010102" pitchFamily="34" charset="77"/>
            </a:endParaRPr>
          </a:p>
        </p:txBody>
      </p:sp>
      <p:sp>
        <p:nvSpPr>
          <p:cNvPr id="13" name="Shape 11"/>
          <p:cNvSpPr/>
          <p:nvPr/>
        </p:nvSpPr>
        <p:spPr>
          <a:xfrm>
            <a:off x="4663440" y="2651760"/>
            <a:ext cx="4023360" cy="11887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4" name="Text 12"/>
          <p:cNvSpPr/>
          <p:nvPr/>
        </p:nvSpPr>
        <p:spPr>
          <a:xfrm>
            <a:off x="4846320" y="2743200"/>
            <a:ext cx="365760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Transport / Déménagement</a:t>
            </a:r>
            <a:endParaRPr lang="en-US" sz="1400" dirty="0">
              <a:latin typeface="Circular Std Medium" panose="020B0604020101010102" pitchFamily="34" charset="77"/>
              <a:cs typeface="Circular Std Medium" panose="020B0604020101010102" pitchFamily="34" charset="77"/>
            </a:endParaRPr>
          </a:p>
        </p:txBody>
      </p:sp>
      <p:sp>
        <p:nvSpPr>
          <p:cNvPr id="15" name="Text 13"/>
          <p:cNvSpPr/>
          <p:nvPr/>
        </p:nvSpPr>
        <p:spPr>
          <a:xfrm>
            <a:off x="4846320" y="3108960"/>
            <a:ext cx="3657600" cy="640080"/>
          </a:xfrm>
          <a:prstGeom prst="rect">
            <a:avLst/>
          </a:prstGeom>
          <a:noFill/>
          <a:ln/>
        </p:spPr>
        <p:txBody>
          <a:bodyPr wrap="square" lIns="0" tIns="0" rIns="0" bIns="0" rtlCol="0" anchor="ctr"/>
          <a:lstStyle/>
          <a:p>
            <a:pPr marL="0" indent="0">
              <a:buNone/>
            </a:pPr>
            <a:r>
              <a:rPr lang="en-US" sz="1200" dirty="0">
                <a:solidFill>
                  <a:srgbClr val="2D2D2D"/>
                </a:solidFill>
                <a:latin typeface="Circular Std Medium" panose="020B0604020101010102" pitchFamily="34" charset="77"/>
                <a:ea typeface="Arial" pitchFamily="34" charset="-122"/>
                <a:cs typeface="Circular Std Medium" panose="020B0604020101010102" pitchFamily="34" charset="77"/>
              </a:rPr>
              <a:t>Les dommages survenus pendant le transport ou un déménagement ne sont pas couverts.</a:t>
            </a:r>
            <a:endParaRPr lang="en-US" sz="1200" dirty="0">
              <a:latin typeface="Circular Std Medium" panose="020B0604020101010102" pitchFamily="34" charset="77"/>
              <a:cs typeface="Circular Std Medium" panose="020B0604020101010102" pitchFamily="34" charset="77"/>
            </a:endParaRPr>
          </a:p>
        </p:txBody>
      </p:sp>
      <p:sp>
        <p:nvSpPr>
          <p:cNvPr id="16" name="Shape 14"/>
          <p:cNvSpPr/>
          <p:nvPr/>
        </p:nvSpPr>
        <p:spPr>
          <a:xfrm>
            <a:off x="457200" y="4023360"/>
            <a:ext cx="8229600" cy="1005840"/>
          </a:xfrm>
          <a:prstGeom prst="rect">
            <a:avLst/>
          </a:prstGeom>
          <a:solidFill>
            <a:srgbClr val="E3F2FD"/>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7" name="Text 15"/>
          <p:cNvSpPr/>
          <p:nvPr/>
        </p:nvSpPr>
        <p:spPr>
          <a:xfrm>
            <a:off x="640080" y="4114800"/>
            <a:ext cx="7863840" cy="365760"/>
          </a:xfrm>
          <a:prstGeom prst="rect">
            <a:avLst/>
          </a:prstGeom>
          <a:noFill/>
          <a:ln/>
        </p:spPr>
        <p:txBody>
          <a:bodyPr wrap="square" lIns="0" tIns="0" rIns="0" bIns="0" rtlCol="0" anchor="ctr"/>
          <a:lstStyle/>
          <a:p>
            <a:pPr marL="0" indent="0">
              <a:buNone/>
            </a:pPr>
            <a:r>
              <a:rPr lang="en-US" sz="1600" b="1" dirty="0">
                <a:solidFill>
                  <a:srgbClr val="1565C0"/>
                </a:solidFill>
                <a:latin typeface="Circular Std Medium" panose="020B0604020101010102" pitchFamily="34" charset="77"/>
                <a:ea typeface="Arial" pitchFamily="34" charset="-122"/>
                <a:cs typeface="Circular Std Medium" panose="020B0604020101010102" pitchFamily="34" charset="77"/>
              </a:rPr>
              <a:t>✓ Location courte durée (Airbnb, Abritel) = COUVERT</a:t>
            </a:r>
            <a:endParaRPr lang="en-US" sz="1600" dirty="0">
              <a:latin typeface="Circular Std Medium" panose="020B0604020101010102" pitchFamily="34" charset="77"/>
              <a:cs typeface="Circular Std Medium" panose="020B0604020101010102" pitchFamily="34" charset="77"/>
            </a:endParaRPr>
          </a:p>
        </p:txBody>
      </p:sp>
      <p:sp>
        <p:nvSpPr>
          <p:cNvPr id="18" name="Text 16"/>
          <p:cNvSpPr/>
          <p:nvPr/>
        </p:nvSpPr>
        <p:spPr>
          <a:xfrm>
            <a:off x="640080" y="4526280"/>
            <a:ext cx="7863840" cy="457200"/>
          </a:xfrm>
          <a:prstGeom prst="rect">
            <a:avLst/>
          </a:prstGeom>
          <a:noFill/>
          <a:ln/>
        </p:spPr>
        <p:txBody>
          <a:bodyPr wrap="square" lIns="0" tIns="0" rIns="0" bIns="0" rtlCol="0" anchor="ct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C'est un argument de vente ! Si le client loue son logement en courte durée (&lt;90 jours consécutifs), les dommages causés par les locataires sont couverts.</a:t>
            </a:r>
            <a:endParaRPr lang="en-US" sz="13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457200" y="2286000"/>
            <a:ext cx="137160" cy="9144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777240" y="2103120"/>
            <a:ext cx="7772400" cy="1280160"/>
          </a:xfrm>
          <a:prstGeom prst="rect">
            <a:avLst/>
          </a:prstGeom>
          <a:noFill/>
          <a:ln/>
        </p:spPr>
        <p:txBody>
          <a:bodyPr wrap="square" lIns="0" tIns="0" rIns="0" bIns="0" rtlCol="0" anchor="ctr"/>
          <a:lstStyle/>
          <a:p>
            <a:pPr marL="0" indent="0">
              <a:buNone/>
            </a:pPr>
            <a:r>
              <a:rPr lang="en-US" sz="4000" b="1" dirty="0">
                <a:solidFill>
                  <a:srgbClr val="FFFFFF"/>
                </a:solidFill>
                <a:latin typeface="Circular Std Medium" panose="020B0604020101010102" pitchFamily="34" charset="77"/>
                <a:ea typeface="Arial" pitchFamily="34" charset="-122"/>
                <a:cs typeface="Circular Std Medium" panose="020B0604020101010102" pitchFamily="34" charset="77"/>
              </a:rPr>
              <a:t>Techniques de vente</a:t>
            </a:r>
            <a:endParaRPr lang="en-US" sz="40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La phrase d'amorce</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400" i="1" dirty="0">
                <a:solidFill>
                  <a:srgbClr val="666666"/>
                </a:solidFill>
                <a:latin typeface="Circular Std Medium" panose="020B0604020101010102" pitchFamily="34" charset="77"/>
                <a:ea typeface="Arial" pitchFamily="34" charset="-122"/>
                <a:cs typeface="Circular Std Medium" panose="020B0604020101010102" pitchFamily="34" charset="77"/>
              </a:rPr>
              <a:t>On a besoin d'une seule phrase, naturelle, intégrée dans la conversation. Pas d'un pitch.</a:t>
            </a:r>
            <a:endParaRPr lang="en-US" sz="14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463040"/>
            <a:ext cx="8229600" cy="137160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554480"/>
            <a:ext cx="786384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Au rayon, pendant le choix du produit</a:t>
            </a:r>
            <a:endParaRPr lang="en-US" sz="14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1965960"/>
            <a:ext cx="7863840" cy="731520"/>
          </a:xfrm>
          <a:prstGeom prst="rect">
            <a:avLst/>
          </a:prstGeom>
          <a:noFill/>
          <a:ln/>
        </p:spPr>
        <p:txBody>
          <a:bodyPr wrap="square" lIns="0" tIns="0" rIns="0" bIns="0" rtlCol="0" anchor="ctr"/>
          <a:lstStyle/>
          <a:p>
            <a:pPr marL="0" indent="0">
              <a:buNone/>
            </a:pPr>
            <a:r>
              <a:rPr lang="en-US" sz="1600" i="1" dirty="0">
                <a:solidFill>
                  <a:srgbClr val="E30613"/>
                </a:solidFill>
                <a:latin typeface="Circular Std Medium" panose="020B0604020101010102" pitchFamily="34" charset="77"/>
                <a:ea typeface="Arial" pitchFamily="34" charset="-122"/>
                <a:cs typeface="Circular Std Medium" panose="020B0604020101010102" pitchFamily="34" charset="77"/>
              </a:rPr>
              <a:t>« D'ailleurs, sur ce modèle-là, il y a une protection taches et rayures à [X] €. Si ça arrive, c'est nous qui remboursons. »</a:t>
            </a:r>
            <a:endParaRPr lang="en-US" sz="1600" dirty="0">
              <a:latin typeface="Circular Std Medium" panose="020B0604020101010102" pitchFamily="34" charset="77"/>
              <a:cs typeface="Circular Std Medium" panose="020B0604020101010102" pitchFamily="34" charset="77"/>
            </a:endParaRPr>
          </a:p>
        </p:txBody>
      </p:sp>
      <p:sp>
        <p:nvSpPr>
          <p:cNvPr id="8" name="Shape 6"/>
          <p:cNvSpPr/>
          <p:nvPr/>
        </p:nvSpPr>
        <p:spPr>
          <a:xfrm>
            <a:off x="457200" y="3017520"/>
            <a:ext cx="8229600" cy="137160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9" name="Text 7"/>
          <p:cNvSpPr/>
          <p:nvPr/>
        </p:nvSpPr>
        <p:spPr>
          <a:xfrm>
            <a:off x="640080" y="3108960"/>
            <a:ext cx="786384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Au bon de commande, quand on finalise</a:t>
            </a:r>
            <a:endParaRPr lang="en-US" sz="1400" dirty="0">
              <a:latin typeface="Circular Std Medium" panose="020B0604020101010102" pitchFamily="34" charset="77"/>
              <a:cs typeface="Circular Std Medium" panose="020B0604020101010102" pitchFamily="34" charset="77"/>
            </a:endParaRPr>
          </a:p>
        </p:txBody>
      </p:sp>
      <p:sp>
        <p:nvSpPr>
          <p:cNvPr id="10" name="Text 8"/>
          <p:cNvSpPr/>
          <p:nvPr/>
        </p:nvSpPr>
        <p:spPr>
          <a:xfrm>
            <a:off x="640080" y="3520440"/>
            <a:ext cx="7863840" cy="731520"/>
          </a:xfrm>
          <a:prstGeom prst="rect">
            <a:avLst/>
          </a:prstGeom>
          <a:noFill/>
          <a:ln/>
        </p:spPr>
        <p:txBody>
          <a:bodyPr wrap="square" lIns="0" tIns="0" rIns="0" bIns="0" rtlCol="0" anchor="ctr"/>
          <a:lstStyle/>
          <a:p>
            <a:pPr marL="0" indent="0">
              <a:buNone/>
            </a:pPr>
            <a:r>
              <a:rPr lang="en-US" sz="1600" i="1" dirty="0">
                <a:solidFill>
                  <a:srgbClr val="E30613"/>
                </a:solidFill>
                <a:latin typeface="Circular Std Medium" panose="020B0604020101010102" pitchFamily="34" charset="77"/>
                <a:ea typeface="Arial" pitchFamily="34" charset="-122"/>
                <a:cs typeface="Circular Std Medium" panose="020B0604020101010102" pitchFamily="34" charset="77"/>
              </a:rPr>
              <a:t>« Avant qu'on valide, je vous mets la protection ? C'est [X] €, et si votre canapé prend une tache ou une rayure, on vous rembourse en bon d'achat. »</a:t>
            </a:r>
            <a:endParaRPr lang="en-US" sz="1600" dirty="0">
              <a:latin typeface="Circular Std Medium" panose="020B0604020101010102" pitchFamily="34" charset="77"/>
              <a:cs typeface="Circular Std Medium" panose="020B0604020101010102" pitchFamily="34" charset="77"/>
            </a:endParaRPr>
          </a:p>
        </p:txBody>
      </p:sp>
      <p:sp>
        <p:nvSpPr>
          <p:cNvPr id="11" name="Shape 9"/>
          <p:cNvSpPr/>
          <p:nvPr/>
        </p:nvSpPr>
        <p:spPr>
          <a:xfrm>
            <a:off x="457200" y="4572000"/>
            <a:ext cx="8229600" cy="457200"/>
          </a:xfrm>
          <a:prstGeom prst="rect">
            <a:avLst/>
          </a:prstGeom>
          <a:solidFill>
            <a:srgbClr val="FFF3E0"/>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2" name="Text 10"/>
          <p:cNvSpPr/>
          <p:nvPr/>
        </p:nvSpPr>
        <p:spPr>
          <a:xfrm>
            <a:off x="640080" y="4617720"/>
            <a:ext cx="7863840" cy="365760"/>
          </a:xfrm>
          <a:prstGeom prst="rect">
            <a:avLst/>
          </a:prstGeom>
          <a:noFill/>
          <a:ln/>
        </p:spPr>
        <p:txBody>
          <a:bodyPr wrap="square" lIns="0" tIns="0" rIns="0" bIns="0" rtlCol="0" anchor="ctr"/>
          <a:lstStyle/>
          <a:p>
            <a:pPr marL="0" indent="0">
              <a:buNone/>
            </a:pPr>
            <a:r>
              <a:rPr lang="en-US" sz="1300" b="1" dirty="0">
                <a:solidFill>
                  <a:srgbClr val="F57C00"/>
                </a:solidFill>
                <a:latin typeface="Circular Std Medium" panose="020B0604020101010102" pitchFamily="34" charset="77"/>
                <a:ea typeface="Arial" pitchFamily="34" charset="-122"/>
                <a:cs typeface="Circular Std Medium" panose="020B0604020101010102" pitchFamily="34" charset="77"/>
              </a:rPr>
              <a:t>"Je vous mets" et non "est-ce que vous voulez" → présomption d'achat = technique la plus efficace</a:t>
            </a:r>
            <a:endParaRPr lang="en-US" sz="13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Si le client demande « c'est quoi exactement ? »</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600" b="1" dirty="0">
                <a:solidFill>
                  <a:srgbClr val="2E7D32"/>
                </a:solidFill>
                <a:latin typeface="Circular Std Medium" panose="020B0604020101010102" pitchFamily="34" charset="77"/>
                <a:ea typeface="Arial" pitchFamily="34" charset="-122"/>
                <a:cs typeface="Circular Std Medium" panose="020B0604020101010102" pitchFamily="34" charset="77"/>
              </a:rPr>
              <a:t>→ Il est intéressé, on déroule</a:t>
            </a:r>
            <a:endParaRPr lang="en-US" sz="16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371600"/>
            <a:ext cx="8229600" cy="2560320"/>
          </a:xfrm>
          <a:prstGeom prst="rect">
            <a:avLst/>
          </a:prstGeom>
          <a:solidFill>
            <a:srgbClr val="E8F5E9"/>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554480"/>
            <a:ext cx="7863840" cy="109728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 C'est simple : pendant 12 ou 24 mois, si votre [produit] prend un coup — tache, rayure, brûlure, éclat — vous déclarez en ligne, vous envoyez une photo, et on vous fait un bon d'achat du montant de votre produit.</a:t>
            </a:r>
            <a:endParaRPr lang="en-US" sz="18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2651760"/>
            <a:ext cx="7863840" cy="457200"/>
          </a:xfrm>
          <a:prstGeom prst="rect">
            <a:avLst/>
          </a:prstGeom>
          <a:noFill/>
          <a:ln/>
        </p:spPr>
        <p:txBody>
          <a:bodyPr wrap="square" lIns="0" tIns="0" rIns="0" bIns="0" rtlCol="0" anchor="ctr"/>
          <a:lstStyle/>
          <a:p>
            <a:pPr marL="0" indent="0">
              <a:buNone/>
            </a:pPr>
            <a:r>
              <a:rPr lang="en-US" sz="1800" i="1" dirty="0" err="1">
                <a:solidFill>
                  <a:srgbClr val="2D2D2D"/>
                </a:solidFill>
                <a:latin typeface="Circular Std Medium" panose="020B0604020101010102" pitchFamily="34" charset="77"/>
                <a:ea typeface="Arial" pitchFamily="34" charset="-122"/>
                <a:cs typeface="Circular Std Medium" panose="020B0604020101010102" pitchFamily="34" charset="77"/>
              </a:rPr>
              <a:t>C'est</a:t>
            </a: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 </a:t>
            </a:r>
            <a:r>
              <a:rPr lang="en-US" sz="1800" i="1" dirty="0" err="1">
                <a:solidFill>
                  <a:srgbClr val="2D2D2D"/>
                </a:solidFill>
                <a:latin typeface="Circular Std Medium" panose="020B0604020101010102" pitchFamily="34" charset="77"/>
                <a:ea typeface="Arial" pitchFamily="34" charset="-122"/>
                <a:cs typeface="Circular Std Medium" panose="020B0604020101010102" pitchFamily="34" charset="77"/>
              </a:rPr>
              <a:t>traité</a:t>
            </a: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 dans la </a:t>
            </a:r>
            <a:r>
              <a:rPr lang="en-US" sz="1800" i="1" dirty="0" err="1">
                <a:solidFill>
                  <a:srgbClr val="2D2D2D"/>
                </a:solidFill>
                <a:latin typeface="Circular Std Medium" panose="020B0604020101010102" pitchFamily="34" charset="77"/>
                <a:ea typeface="Arial" pitchFamily="34" charset="-122"/>
                <a:cs typeface="Circular Std Medium" panose="020B0604020101010102" pitchFamily="34" charset="77"/>
              </a:rPr>
              <a:t>journée</a:t>
            </a: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a:t>
            </a:r>
            <a:endParaRPr lang="en-US" sz="1800" dirty="0">
              <a:latin typeface="Circular Std Medium" panose="020B0604020101010102" pitchFamily="34" charset="77"/>
              <a:cs typeface="Circular Std Medium" panose="020B0604020101010102" pitchFamily="34" charset="77"/>
            </a:endParaRPr>
          </a:p>
        </p:txBody>
      </p:sp>
      <p:sp>
        <p:nvSpPr>
          <p:cNvPr id="8" name="Text 6"/>
          <p:cNvSpPr/>
          <p:nvPr/>
        </p:nvSpPr>
        <p:spPr>
          <a:xfrm>
            <a:off x="640080" y="3200400"/>
            <a:ext cx="7863840" cy="45720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Et ça couvre tout ce que la garantie fabricant ne prend pas en charge. »</a:t>
            </a:r>
            <a:endParaRPr lang="en-US" sz="18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457200" y="3931920"/>
            <a:ext cx="8229600" cy="36576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Les points clés de cet argumentaire :</a:t>
            </a:r>
            <a:endParaRPr lang="en-US" sz="1400" dirty="0">
              <a:latin typeface="Circular Std Medium" panose="020B0604020101010102" pitchFamily="34" charset="77"/>
              <a:cs typeface="Circular Std Medium" panose="020B0604020101010102" pitchFamily="34" charset="77"/>
            </a:endParaRPr>
          </a:p>
        </p:txBody>
      </p:sp>
      <p:sp>
        <p:nvSpPr>
          <p:cNvPr id="10" name="Text 8"/>
          <p:cNvSpPr/>
          <p:nvPr/>
        </p:nvSpPr>
        <p:spPr>
          <a:xfrm>
            <a:off x="457200" y="4297680"/>
            <a:ext cx="8229600" cy="640080"/>
          </a:xfrm>
          <a:prstGeom prst="rect">
            <a:avLst/>
          </a:prstGeom>
          <a:noFill/>
          <a:ln/>
        </p:spPr>
        <p:txBody>
          <a:bodyPr wrap="square" lIns="0" tIns="0" rIns="0" bIns="0" rtlCol="0" anchor="ctr"/>
          <a:lstStyle/>
          <a:p>
            <a:pPr marL="171450" indent="-171450">
              <a:buFont typeface="Arial" panose="020B0604020202020204" pitchFamily="34" charset="0"/>
              <a:buChar char="•"/>
            </a:pPr>
            <a:r>
              <a:rPr lang="en-US" sz="1200" dirty="0" err="1">
                <a:solidFill>
                  <a:srgbClr val="666666"/>
                </a:solidFill>
                <a:latin typeface="Circular Std Medium" panose="020B0604020101010102" pitchFamily="34" charset="77"/>
                <a:ea typeface="Arial" pitchFamily="34" charset="-122"/>
                <a:cs typeface="Circular Std Medium" panose="020B0604020101010102" pitchFamily="34" charset="77"/>
              </a:rPr>
              <a:t>Simplicité</a:t>
            </a: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 du process (photo + appel)</a:t>
            </a:r>
            <a:endParaRPr lang="en-US" sz="1200" dirty="0">
              <a:latin typeface="Circular Std Medium" panose="020B0604020101010102" pitchFamily="34" charset="77"/>
              <a:cs typeface="Circular Std Medium" panose="020B0604020101010102" pitchFamily="34" charset="77"/>
            </a:endParaRPr>
          </a:p>
          <a:p>
            <a:pPr marL="171450" indent="-171450">
              <a:buFont typeface="Arial" panose="020B0604020202020204" pitchFamily="34" charset="0"/>
              <a:buChar char="•"/>
            </a:pPr>
            <a:r>
              <a:rPr lang="en-US" sz="1200" dirty="0" err="1">
                <a:solidFill>
                  <a:srgbClr val="666666"/>
                </a:solidFill>
                <a:latin typeface="Circular Std Medium" panose="020B0604020101010102" pitchFamily="34" charset="77"/>
                <a:ea typeface="Arial" pitchFamily="34" charset="-122"/>
                <a:cs typeface="Circular Std Medium" panose="020B0604020101010102" pitchFamily="34" charset="77"/>
              </a:rPr>
              <a:t>Taux</a:t>
            </a: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 d'acceptation élevé (80-90%)</a:t>
            </a:r>
            <a:endParaRPr lang="en-US" sz="1200" dirty="0">
              <a:latin typeface="Circular Std Medium" panose="020B0604020101010102" pitchFamily="34" charset="77"/>
              <a:cs typeface="Circular Std Medium" panose="020B0604020101010102" pitchFamily="34" charset="77"/>
            </a:endParaRPr>
          </a:p>
          <a:p>
            <a:pPr marL="171450" indent="-171450">
              <a:buFont typeface="Arial" panose="020B0604020202020204" pitchFamily="34" charset="0"/>
              <a:buChar char="•"/>
            </a:pPr>
            <a:r>
              <a:rPr lang="en-US" sz="1200" dirty="0" err="1">
                <a:solidFill>
                  <a:srgbClr val="666666"/>
                </a:solidFill>
                <a:latin typeface="Circular Std Medium" panose="020B0604020101010102" pitchFamily="34" charset="77"/>
                <a:ea typeface="Arial" pitchFamily="34" charset="-122"/>
                <a:cs typeface="Circular Std Medium" panose="020B0604020101010102" pitchFamily="34" charset="77"/>
              </a:rPr>
              <a:t>Rapidité</a:t>
            </a: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 (traité dans la journée)</a:t>
            </a:r>
            <a:endParaRPr lang="en-US" sz="1200" dirty="0">
              <a:latin typeface="Circular Std Medium" panose="020B0604020101010102" pitchFamily="34" charset="77"/>
              <a:cs typeface="Circular Std Medium" panose="020B0604020101010102" pitchFamily="34" charset="77"/>
            </a:endParaRPr>
          </a:p>
          <a:p>
            <a:pPr marL="171450" indent="-171450">
              <a:buFont typeface="Arial" panose="020B0604020202020204" pitchFamily="34" charset="0"/>
              <a:buChar char="•"/>
            </a:pPr>
            <a:r>
              <a:rPr lang="en-US" sz="1200" dirty="0" err="1">
                <a:solidFill>
                  <a:srgbClr val="666666"/>
                </a:solidFill>
                <a:latin typeface="Circular Std Medium" panose="020B0604020101010102" pitchFamily="34" charset="77"/>
                <a:ea typeface="Arial" pitchFamily="34" charset="-122"/>
                <a:cs typeface="Circular Std Medium" panose="020B0604020101010102" pitchFamily="34" charset="77"/>
              </a:rPr>
              <a:t>Complémentarité</a:t>
            </a:r>
            <a:r>
              <a:rPr lang="en-US" sz="1200" dirty="0">
                <a:solidFill>
                  <a:srgbClr val="666666"/>
                </a:solidFill>
                <a:latin typeface="Circular Std Medium" panose="020B0604020101010102" pitchFamily="34" charset="77"/>
                <a:ea typeface="Arial" pitchFamily="34" charset="-122"/>
                <a:cs typeface="Circular Std Medium" panose="020B0604020101010102" pitchFamily="34" charset="77"/>
              </a:rPr>
              <a:t> avec la garantie fabricant</a:t>
            </a:r>
            <a:endParaRPr lang="en-US" sz="12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Si le client dit « non merci »</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600" b="1" dirty="0">
                <a:solidFill>
                  <a:srgbClr val="F57C00"/>
                </a:solidFill>
                <a:latin typeface="Circular Std Medium" panose="020B0604020101010102" pitchFamily="34" charset="77"/>
                <a:ea typeface="Arial" pitchFamily="34" charset="-122"/>
                <a:cs typeface="Circular Std Medium" panose="020B0604020101010102" pitchFamily="34" charset="77"/>
              </a:rPr>
              <a:t>→ On ne force pas, on plante la graine</a:t>
            </a:r>
            <a:endParaRPr lang="en-US" sz="16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371600"/>
            <a:ext cx="8229600" cy="1645920"/>
          </a:xfrm>
          <a:prstGeom prst="rect">
            <a:avLst/>
          </a:prstGeom>
          <a:solidFill>
            <a:srgbClr val="FFF3E0"/>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554480"/>
            <a:ext cx="7863840" cy="73152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 Pas de souci. Sachez juste que c'est disponible uniquement à l'achat, on ne peut pas le rajouter après.</a:t>
            </a:r>
            <a:endParaRPr lang="en-US" sz="18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2286000"/>
            <a:ext cx="7863840" cy="45720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Si vous changez d'avis avant de passer en caisse, dites-le-moi. »</a:t>
            </a:r>
            <a:endParaRPr lang="en-US" sz="1800" dirty="0">
              <a:latin typeface="Circular Std Medium" panose="020B0604020101010102" pitchFamily="34" charset="77"/>
              <a:cs typeface="Circular Std Medium" panose="020B0604020101010102" pitchFamily="34" charset="77"/>
            </a:endParaRPr>
          </a:p>
        </p:txBody>
      </p:sp>
      <p:sp>
        <p:nvSpPr>
          <p:cNvPr id="8" name="Text 6"/>
          <p:cNvSpPr/>
          <p:nvPr/>
        </p:nvSpPr>
        <p:spPr>
          <a:xfrm>
            <a:off x="457200" y="3291840"/>
            <a:ext cx="8229600" cy="36576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Pourquoi ça marche :</a:t>
            </a:r>
            <a:endParaRPr lang="en-US" sz="14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457200" y="3657600"/>
            <a:ext cx="8229600" cy="731520"/>
          </a:xfrm>
          <a:prstGeom prst="rect">
            <a:avLst/>
          </a:prstGeom>
          <a:noFill/>
          <a:ln/>
        </p:spPr>
        <p:txBody>
          <a:bodyPr wrap="square" lIns="0" tIns="0" rIns="0" bIns="0" rtlCol="0" anchor="ctr"/>
          <a:lstStyle/>
          <a:p>
            <a:pPr marL="0" indent="0">
              <a:buNone/>
            </a:pPr>
            <a:r>
              <a:rPr lang="en-US" sz="1400" dirty="0">
                <a:solidFill>
                  <a:srgbClr val="666666"/>
                </a:solidFill>
                <a:latin typeface="Circular Std Medium" panose="020B0604020101010102" pitchFamily="34" charset="77"/>
                <a:ea typeface="Arial" pitchFamily="34" charset="-122"/>
                <a:cs typeface="Circular Std Medium" panose="020B0604020101010102" pitchFamily="34" charset="77"/>
              </a:rPr>
              <a:t>• L'urgence est réelle (vraiment impossible après)</a:t>
            </a:r>
            <a:endParaRPr lang="en-US" sz="1400" dirty="0">
              <a:latin typeface="Circular Std Medium" panose="020B0604020101010102" pitchFamily="34" charset="77"/>
              <a:cs typeface="Circular Std Medium" panose="020B0604020101010102" pitchFamily="34" charset="77"/>
            </a:endParaRPr>
          </a:p>
          <a:p>
            <a:pPr marL="0" indent="0">
              <a:buNone/>
            </a:pPr>
            <a:r>
              <a:rPr lang="en-US" sz="1400" dirty="0">
                <a:solidFill>
                  <a:srgbClr val="666666"/>
                </a:solidFill>
                <a:latin typeface="Circular Std Medium" panose="020B0604020101010102" pitchFamily="34" charset="77"/>
                <a:ea typeface="Arial" pitchFamily="34" charset="-122"/>
                <a:cs typeface="Circular Std Medium" panose="020B0604020101010102" pitchFamily="34" charset="77"/>
              </a:rPr>
              <a:t>• On ne culpabilise pas le client</a:t>
            </a:r>
            <a:endParaRPr lang="en-US" sz="1400" dirty="0">
              <a:latin typeface="Circular Std Medium" panose="020B0604020101010102" pitchFamily="34" charset="77"/>
              <a:cs typeface="Circular Std Medium" panose="020B0604020101010102" pitchFamily="34" charset="77"/>
            </a:endParaRPr>
          </a:p>
          <a:p>
            <a:pPr marL="0" indent="0">
              <a:buNone/>
            </a:pPr>
            <a:r>
              <a:rPr lang="en-US" sz="1400" dirty="0">
                <a:solidFill>
                  <a:srgbClr val="666666"/>
                </a:solidFill>
                <a:latin typeface="Circular Std Medium" panose="020B0604020101010102" pitchFamily="34" charset="77"/>
                <a:ea typeface="Arial" pitchFamily="34" charset="-122"/>
                <a:cs typeface="Circular Std Medium" panose="020B0604020101010102" pitchFamily="34" charset="77"/>
              </a:rPr>
              <a:t>• On laisse la porte ouverte pour un rebond en caisse</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Si le client dit « c'est trop cher »</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600" b="1" dirty="0">
                <a:solidFill>
                  <a:srgbClr val="1565C0"/>
                </a:solidFill>
                <a:latin typeface="Circular Std Medium" panose="020B0604020101010102" pitchFamily="34" charset="77"/>
                <a:ea typeface="Arial" pitchFamily="34" charset="-122"/>
                <a:cs typeface="Circular Std Medium" panose="020B0604020101010102" pitchFamily="34" charset="77"/>
              </a:rPr>
              <a:t>→ On met en perspective, on ne justifie pas</a:t>
            </a:r>
            <a:endParaRPr lang="en-US" sz="16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371600"/>
            <a:ext cx="8229600" cy="1645920"/>
          </a:xfrm>
          <a:prstGeom prst="rect">
            <a:avLst/>
          </a:prstGeom>
          <a:solidFill>
            <a:srgbClr val="E3F2FD"/>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554480"/>
            <a:ext cx="7863840" cy="54864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 Je comprends. En fait, sur 24 mois, ça revient à [montant total].</a:t>
            </a:r>
            <a:endParaRPr lang="en-US" sz="18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2103120"/>
            <a:ext cx="7863840" cy="73152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Si dans ces 24 mois votre canapé prend ne serait-ce qu'une tache, on vous rembourse [montant du produit] en bon d'achat. Le calcul est assez simple. »</a:t>
            </a:r>
            <a:endParaRPr lang="en-US" sz="1800" dirty="0">
              <a:latin typeface="Circular Std Medium" panose="020B0604020101010102" pitchFamily="34" charset="77"/>
              <a:cs typeface="Circular Std Medium" panose="020B0604020101010102" pitchFamily="34" charset="77"/>
            </a:endParaRPr>
          </a:p>
        </p:txBody>
      </p:sp>
      <p:sp>
        <p:nvSpPr>
          <p:cNvPr id="8" name="Text 6"/>
          <p:cNvSpPr/>
          <p:nvPr/>
        </p:nvSpPr>
        <p:spPr>
          <a:xfrm>
            <a:off x="457200" y="3291840"/>
            <a:ext cx="8229600" cy="36576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Le client fait le ratio lui-même. C'est plus efficace que n'importe quel argument.</a:t>
            </a:r>
            <a:endParaRPr lang="en-US" sz="14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457200" y="3749040"/>
            <a:ext cx="8229600" cy="365760"/>
          </a:xfrm>
          <a:prstGeom prst="rect">
            <a:avLst/>
          </a:prstGeom>
          <a:noFill/>
          <a:ln/>
        </p:spPr>
        <p:txBody>
          <a:bodyPr wrap="square" lIns="0" tIns="0" rIns="0" bIns="0" rtlCol="0" anchor="ctr"/>
          <a:lstStyle/>
          <a:p>
            <a:pPr marL="0" indent="0">
              <a:buNone/>
            </a:pPr>
            <a:r>
              <a:rPr lang="en-US" sz="1400" dirty="0">
                <a:solidFill>
                  <a:srgbClr val="666666"/>
                </a:solidFill>
                <a:latin typeface="Circular Std Medium" panose="020B0604020101010102" pitchFamily="34" charset="77"/>
                <a:ea typeface="Arial" pitchFamily="34" charset="-122"/>
                <a:cs typeface="Circular Std Medium" panose="020B0604020101010102" pitchFamily="34" charset="77"/>
              </a:rPr>
              <a:t>Exemple : protection à 55 € sur 24 mois pour un canapé à 699 € → ratio de 1 à 13.</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Les mots qu'on ne dit jamais</a:t>
            </a:r>
            <a:endParaRPr lang="en-US" sz="2800" dirty="0">
              <a:latin typeface="Circular Std Medium" panose="020B0604020101010102" pitchFamily="34" charset="77"/>
              <a:cs typeface="Circular Std Medium" panose="020B0604020101010102" pitchFamily="34" charset="77"/>
            </a:endParaRPr>
          </a:p>
        </p:txBody>
      </p:sp>
      <p:graphicFrame>
        <p:nvGraphicFramePr>
          <p:cNvPr id="16" name="Table 0"/>
          <p:cNvGraphicFramePr>
            <a:graphicFrameLocks noGrp="1"/>
          </p:cNvGraphicFramePr>
          <p:nvPr>
            <p:extLst>
              <p:ext uri="{D42A27DB-BD31-4B8C-83A1-F6EECF244321}">
                <p14:modId xmlns:p14="http://schemas.microsoft.com/office/powerpoint/2010/main" val="1536618391"/>
              </p:ext>
            </p:extLst>
          </p:nvPr>
        </p:nvGraphicFramePr>
        <p:xfrm>
          <a:off x="457200" y="1097280"/>
          <a:ext cx="8229600" cy="3017520"/>
        </p:xfrm>
        <a:graphic>
          <a:graphicData uri="http://schemas.openxmlformats.org/drawingml/2006/table">
            <a:tbl>
              <a:tblPr/>
              <a:tblGrid>
                <a:gridCol w="22860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02920">
                <a:tc>
                  <a:txBody>
                    <a:bodyPr/>
                    <a:lstStyle/>
                    <a:p>
                      <a:pPr marL="0" indent="0" algn="ctr">
                        <a:buNone/>
                      </a:pPr>
                      <a:r>
                        <a:rPr lang="en-US" sz="1300" b="1" dirty="0">
                          <a:solidFill>
                            <a:schemeClr val="bg1"/>
                          </a:solidFill>
                          <a:latin typeface="Circular Std Medium" panose="020B0604020101010102" pitchFamily="34" charset="77"/>
                          <a:ea typeface="Arial" pitchFamily="34" charset="-122"/>
                          <a:cs typeface="Circular Std Medium" panose="020B0604020101010102" pitchFamily="34" charset="77"/>
                        </a:rPr>
                        <a:t>On ne dit pas</a:t>
                      </a:r>
                      <a:endParaRPr lang="en-US" sz="13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0000"/>
                    </a:solidFill>
                  </a:tcPr>
                </a:tc>
                <a:tc>
                  <a:txBody>
                    <a:bodyPr/>
                    <a:lstStyle/>
                    <a:p>
                      <a:pPr marL="0" indent="0" algn="ctr">
                        <a:buNone/>
                      </a:pPr>
                      <a:r>
                        <a:rPr lang="en-US" sz="1300" b="1" dirty="0">
                          <a:solidFill>
                            <a:schemeClr val="bg1"/>
                          </a:solidFill>
                          <a:latin typeface="Circular Std Medium" panose="020B0604020101010102" pitchFamily="34" charset="77"/>
                          <a:ea typeface="Arial" pitchFamily="34" charset="-122"/>
                          <a:cs typeface="Circular Std Medium" panose="020B0604020101010102" pitchFamily="34" charset="77"/>
                        </a:rPr>
                        <a:t>Pourquoi</a:t>
                      </a:r>
                      <a:endParaRPr lang="en-US" sz="13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0000"/>
                    </a:solidFill>
                  </a:tcPr>
                </a:tc>
                <a:tc>
                  <a:txBody>
                    <a:bodyPr/>
                    <a:lstStyle/>
                    <a:p>
                      <a:pPr marL="0" indent="0" algn="ctr">
                        <a:buNone/>
                      </a:pPr>
                      <a:r>
                        <a:rPr lang="en-US" sz="1300" b="1" dirty="0">
                          <a:solidFill>
                            <a:schemeClr val="bg1"/>
                          </a:solidFill>
                          <a:latin typeface="Circular Std Medium" panose="020B0604020101010102" pitchFamily="34" charset="77"/>
                          <a:ea typeface="Arial" pitchFamily="34" charset="-122"/>
                          <a:cs typeface="Circular Std Medium" panose="020B0604020101010102" pitchFamily="34" charset="77"/>
                        </a:rPr>
                        <a:t>On dit à la place</a:t>
                      </a:r>
                      <a:endParaRPr lang="en-US" sz="1300" b="1" dirty="0">
                        <a:solidFill>
                          <a:schemeClr val="bg1"/>
                        </a:solidFill>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0000"/>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Assurance</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Réflexe négatif</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Protection</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Imaginez que…</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Le client ne veut pas imaginer le pire</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Si ça arrive… (factuel)</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C'est ce que tout le monde pense</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Condescendant</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Tant mieux, et au moins c'est là</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Paiement fractionné</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Le client entend « crédit »</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C'est [X] €, c'est tout</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Couverture complémentaire</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Jargon d'assureur</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300" dirty="0">
                          <a:solidFill>
                            <a:srgbClr val="2D2D2D"/>
                          </a:solidFill>
                          <a:latin typeface="Circular Std Medium" panose="020B0604020101010102" pitchFamily="34" charset="77"/>
                          <a:ea typeface="Arial" pitchFamily="34" charset="-122"/>
                          <a:cs typeface="Circular Std Medium" panose="020B0604020101010102" pitchFamily="34" charset="77"/>
                        </a:rPr>
                        <a:t>Ça couvre ce que la garantie ne couvre pas</a:t>
                      </a:r>
                      <a:endParaRPr lang="en-US" sz="1300" dirty="0">
                        <a:latin typeface="Circular Std Medium" panose="020B0604020101010102" pitchFamily="34" charset="77"/>
                        <a:ea typeface="Arial" charset="0"/>
                        <a:cs typeface="Circular Std Medium" panose="020B0604020101010102" pitchFamily="34" charset="77"/>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503583" y="4389120"/>
            <a:ext cx="8229600" cy="45720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7" name="Text 4"/>
          <p:cNvSpPr/>
          <p:nvPr/>
        </p:nvSpPr>
        <p:spPr>
          <a:xfrm>
            <a:off x="686463" y="4434840"/>
            <a:ext cx="7863840" cy="36576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Règle d'or : on ne contredit jamais le client, on valide puis on déplace.</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L'ordre de proposition — L'escalier</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400" i="1" dirty="0">
                <a:solidFill>
                  <a:srgbClr val="666666"/>
                </a:solidFill>
                <a:latin typeface="Circular Std Medium" panose="020B0604020101010102" pitchFamily="34" charset="77"/>
                <a:ea typeface="Arial" pitchFamily="34" charset="-122"/>
                <a:cs typeface="Circular Std Medium" panose="020B0604020101010102" pitchFamily="34" charset="77"/>
              </a:rPr>
              <a:t>On commence toujours par la marche du haut.</a:t>
            </a:r>
            <a:endParaRPr lang="en-US" sz="14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371600"/>
            <a:ext cx="8229600" cy="731520"/>
          </a:xfrm>
          <a:prstGeom prst="rect">
            <a:avLst/>
          </a:prstGeom>
          <a:solidFill>
            <a:srgbClr val="E8F5E9"/>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Shape 4"/>
          <p:cNvSpPr/>
          <p:nvPr/>
        </p:nvSpPr>
        <p:spPr>
          <a:xfrm>
            <a:off x="457200" y="1371600"/>
            <a:ext cx="91440" cy="731520"/>
          </a:xfrm>
          <a:prstGeom prst="rect">
            <a:avLst/>
          </a:prstGeom>
          <a:solidFill>
            <a:srgbClr val="2E7D32"/>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1417320"/>
            <a:ext cx="365760" cy="640080"/>
          </a:xfrm>
          <a:prstGeom prst="rect">
            <a:avLst/>
          </a:prstGeom>
          <a:noFill/>
          <a:ln/>
        </p:spPr>
        <p:txBody>
          <a:bodyPr wrap="square" lIns="0" tIns="0" rIns="0" bIns="0" rtlCol="0" anchor="ctr"/>
          <a:lstStyle/>
          <a:p>
            <a:pPr marL="0" indent="0">
              <a:buNone/>
            </a:pPr>
            <a:r>
              <a:rPr lang="en-US" sz="2800" b="1" dirty="0">
                <a:solidFill>
                  <a:srgbClr val="2E7D32"/>
                </a:solidFill>
                <a:latin typeface="Circular Std Medium" panose="020B0604020101010102" pitchFamily="34" charset="77"/>
                <a:ea typeface="Arial" pitchFamily="34" charset="-122"/>
                <a:cs typeface="Circular Std Medium" panose="020B0604020101010102" pitchFamily="34" charset="77"/>
              </a:rPr>
              <a:t>1</a:t>
            </a:r>
            <a:endParaRPr lang="en-US" sz="2800" dirty="0">
              <a:latin typeface="Circular Std Medium" panose="020B0604020101010102" pitchFamily="34" charset="77"/>
              <a:cs typeface="Circular Std Medium" panose="020B0604020101010102" pitchFamily="34" charset="77"/>
            </a:endParaRPr>
          </a:p>
        </p:txBody>
      </p:sp>
      <p:sp>
        <p:nvSpPr>
          <p:cNvPr id="8" name="Text 6"/>
          <p:cNvSpPr/>
          <p:nvPr/>
        </p:nvSpPr>
        <p:spPr>
          <a:xfrm>
            <a:off x="1097280" y="1508760"/>
            <a:ext cx="7315200" cy="548640"/>
          </a:xfrm>
          <a:prstGeom prst="rect">
            <a:avLst/>
          </a:prstGeom>
          <a:noFill/>
          <a:ln/>
        </p:spPr>
        <p:txBody>
          <a:bodyPr wrap="square" lIns="0" tIns="0" rIns="0" bIns="0" rtlCol="0" anchor="ct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Garantie mensuelle Estaly + Protection esthétique → le meilleur package, à proposer en premier</a:t>
            </a:r>
            <a:endParaRPr lang="en-US" sz="1400" dirty="0">
              <a:latin typeface="Circular Std Medium" panose="020B0604020101010102" pitchFamily="34" charset="77"/>
              <a:cs typeface="Circular Std Medium" panose="020B0604020101010102" pitchFamily="34" charset="77"/>
            </a:endParaRPr>
          </a:p>
        </p:txBody>
      </p:sp>
      <p:sp>
        <p:nvSpPr>
          <p:cNvPr id="9" name="Shape 7"/>
          <p:cNvSpPr/>
          <p:nvPr/>
        </p:nvSpPr>
        <p:spPr>
          <a:xfrm>
            <a:off x="457200" y="2194560"/>
            <a:ext cx="8229600" cy="7315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0" name="Shape 8"/>
          <p:cNvSpPr/>
          <p:nvPr/>
        </p:nvSpPr>
        <p:spPr>
          <a:xfrm>
            <a:off x="457200" y="2194560"/>
            <a:ext cx="91440" cy="731520"/>
          </a:xfrm>
          <a:prstGeom prst="rect">
            <a:avLst/>
          </a:prstGeom>
          <a:solidFill>
            <a:srgbClr val="666666"/>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1" name="Text 9"/>
          <p:cNvSpPr/>
          <p:nvPr/>
        </p:nvSpPr>
        <p:spPr>
          <a:xfrm>
            <a:off x="640080" y="2240280"/>
            <a:ext cx="365760" cy="640080"/>
          </a:xfrm>
          <a:prstGeom prst="rect">
            <a:avLst/>
          </a:prstGeom>
          <a:noFill/>
          <a:ln/>
        </p:spPr>
        <p:txBody>
          <a:bodyPr wrap="square" lIns="0" tIns="0" rIns="0" bIns="0" rtlCol="0" anchor="ctr"/>
          <a:lstStyle/>
          <a:p>
            <a:pPr marL="0" indent="0">
              <a:buNone/>
            </a:pPr>
            <a:r>
              <a:rPr lang="en-US" sz="2800" b="1" dirty="0">
                <a:solidFill>
                  <a:srgbClr val="666666"/>
                </a:solidFill>
                <a:latin typeface="Circular Std Medium" panose="020B0604020101010102" pitchFamily="34" charset="77"/>
                <a:ea typeface="Arial" pitchFamily="34" charset="-122"/>
                <a:cs typeface="Circular Std Medium" panose="020B0604020101010102" pitchFamily="34" charset="77"/>
              </a:rPr>
              <a:t>2</a:t>
            </a:r>
            <a:endParaRPr lang="en-US" sz="2800" dirty="0">
              <a:latin typeface="Circular Std Medium" panose="020B0604020101010102" pitchFamily="34" charset="77"/>
              <a:cs typeface="Circular Std Medium" panose="020B0604020101010102" pitchFamily="34" charset="77"/>
            </a:endParaRPr>
          </a:p>
        </p:txBody>
      </p:sp>
      <p:sp>
        <p:nvSpPr>
          <p:cNvPr id="12" name="Text 10"/>
          <p:cNvSpPr/>
          <p:nvPr/>
        </p:nvSpPr>
        <p:spPr>
          <a:xfrm>
            <a:off x="1097280" y="2331720"/>
            <a:ext cx="7315200" cy="548640"/>
          </a:xfrm>
          <a:prstGeom prst="rect">
            <a:avLst/>
          </a:prstGeom>
          <a:noFill/>
          <a:ln/>
        </p:spPr>
        <p:txBody>
          <a:bodyPr wrap="square" lIns="0" tIns="0" rIns="0" bIns="0" rtlCol="0" anchor="ct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Garantie classique (paiement unique) + Protection esthétique → si le client ne veut pas du mensuel</a:t>
            </a:r>
            <a:endParaRPr lang="en-US" sz="1400" dirty="0">
              <a:latin typeface="Circular Std Medium" panose="020B0604020101010102" pitchFamily="34" charset="77"/>
              <a:cs typeface="Circular Std Medium" panose="020B0604020101010102" pitchFamily="34" charset="77"/>
            </a:endParaRPr>
          </a:p>
        </p:txBody>
      </p:sp>
      <p:sp>
        <p:nvSpPr>
          <p:cNvPr id="13" name="Shape 11"/>
          <p:cNvSpPr/>
          <p:nvPr/>
        </p:nvSpPr>
        <p:spPr>
          <a:xfrm>
            <a:off x="457200" y="3017520"/>
            <a:ext cx="8229600" cy="73152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4" name="Shape 12"/>
          <p:cNvSpPr/>
          <p:nvPr/>
        </p:nvSpPr>
        <p:spPr>
          <a:xfrm>
            <a:off x="457200" y="3017520"/>
            <a:ext cx="91440" cy="731520"/>
          </a:xfrm>
          <a:prstGeom prst="rect">
            <a:avLst/>
          </a:prstGeom>
          <a:solidFill>
            <a:srgbClr val="666666"/>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5" name="Text 13"/>
          <p:cNvSpPr/>
          <p:nvPr/>
        </p:nvSpPr>
        <p:spPr>
          <a:xfrm>
            <a:off x="640080" y="3063240"/>
            <a:ext cx="365760" cy="640080"/>
          </a:xfrm>
          <a:prstGeom prst="rect">
            <a:avLst/>
          </a:prstGeom>
          <a:noFill/>
          <a:ln/>
        </p:spPr>
        <p:txBody>
          <a:bodyPr wrap="square" lIns="0" tIns="0" rIns="0" bIns="0" rtlCol="0" anchor="ctr"/>
          <a:lstStyle/>
          <a:p>
            <a:pPr marL="0" indent="0">
              <a:buNone/>
            </a:pPr>
            <a:r>
              <a:rPr lang="en-US" sz="2800" b="1" dirty="0">
                <a:solidFill>
                  <a:srgbClr val="666666"/>
                </a:solidFill>
                <a:latin typeface="Circular Std Medium" panose="020B0604020101010102" pitchFamily="34" charset="77"/>
                <a:ea typeface="Arial" pitchFamily="34" charset="-122"/>
                <a:cs typeface="Circular Std Medium" panose="020B0604020101010102" pitchFamily="34" charset="77"/>
              </a:rPr>
              <a:t>3</a:t>
            </a:r>
            <a:endParaRPr lang="en-US" sz="2800" dirty="0">
              <a:latin typeface="Circular Std Medium" panose="020B0604020101010102" pitchFamily="34" charset="77"/>
              <a:cs typeface="Circular Std Medium" panose="020B0604020101010102" pitchFamily="34" charset="77"/>
            </a:endParaRPr>
          </a:p>
        </p:txBody>
      </p:sp>
      <p:sp>
        <p:nvSpPr>
          <p:cNvPr id="16" name="Text 14"/>
          <p:cNvSpPr/>
          <p:nvPr/>
        </p:nvSpPr>
        <p:spPr>
          <a:xfrm>
            <a:off x="1097280" y="3154680"/>
            <a:ext cx="7315200" cy="548640"/>
          </a:xfrm>
          <a:prstGeom prst="rect">
            <a:avLst/>
          </a:prstGeom>
          <a:noFill/>
          <a:ln/>
        </p:spPr>
        <p:txBody>
          <a:bodyPr wrap="square" lIns="0" tIns="0" rIns="0" bIns="0" rtlCol="0" anchor="ct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Protection esthétique seule → si le client refuse toute garantie mais accroche sur l'esthétique</a:t>
            </a:r>
            <a:endParaRPr lang="en-US" sz="1400" dirty="0">
              <a:latin typeface="Circular Std Medium" panose="020B0604020101010102" pitchFamily="34" charset="77"/>
              <a:cs typeface="Circular Std Medium" panose="020B0604020101010102" pitchFamily="34" charset="77"/>
            </a:endParaRPr>
          </a:p>
        </p:txBody>
      </p:sp>
      <p:sp>
        <p:nvSpPr>
          <p:cNvPr id="17" name="Shape 15"/>
          <p:cNvSpPr/>
          <p:nvPr/>
        </p:nvSpPr>
        <p:spPr>
          <a:xfrm>
            <a:off x="457200" y="3840480"/>
            <a:ext cx="8229600" cy="731520"/>
          </a:xfrm>
          <a:prstGeom prst="rect">
            <a:avLst/>
          </a:prstGeom>
          <a:solidFill>
            <a:srgbClr val="FFEBEE"/>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8" name="Shape 16"/>
          <p:cNvSpPr/>
          <p:nvPr/>
        </p:nvSpPr>
        <p:spPr>
          <a:xfrm>
            <a:off x="457200" y="3840480"/>
            <a:ext cx="91440" cy="73152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9" name="Text 17"/>
          <p:cNvSpPr/>
          <p:nvPr/>
        </p:nvSpPr>
        <p:spPr>
          <a:xfrm>
            <a:off x="640080" y="3886200"/>
            <a:ext cx="365760" cy="640080"/>
          </a:xfrm>
          <a:prstGeom prst="rect">
            <a:avLst/>
          </a:prstGeom>
          <a:noFill/>
          <a:ln/>
        </p:spPr>
        <p:txBody>
          <a:bodyPr wrap="square" lIns="0" tIns="0" rIns="0" bIns="0" rtlCol="0" anchor="ctr"/>
          <a:lstStyle/>
          <a:p>
            <a:pPr marL="0" indent="0">
              <a:buNone/>
            </a:pPr>
            <a:r>
              <a:rPr lang="en-US" sz="2800" b="1" dirty="0">
                <a:solidFill>
                  <a:srgbClr val="E30613"/>
                </a:solidFill>
                <a:latin typeface="Circular Std Medium" panose="020B0604020101010102" pitchFamily="34" charset="77"/>
                <a:ea typeface="Arial" pitchFamily="34" charset="-122"/>
                <a:cs typeface="Circular Std Medium" panose="020B0604020101010102" pitchFamily="34" charset="77"/>
              </a:rPr>
              <a:t>4</a:t>
            </a:r>
            <a:endParaRPr lang="en-US" sz="2800" dirty="0">
              <a:latin typeface="Circular Std Medium" panose="020B0604020101010102" pitchFamily="34" charset="77"/>
              <a:cs typeface="Circular Std Medium" panose="020B0604020101010102" pitchFamily="34" charset="77"/>
            </a:endParaRPr>
          </a:p>
        </p:txBody>
      </p:sp>
      <p:sp>
        <p:nvSpPr>
          <p:cNvPr id="20" name="Text 18"/>
          <p:cNvSpPr/>
          <p:nvPr/>
        </p:nvSpPr>
        <p:spPr>
          <a:xfrm>
            <a:off x="1097280" y="3977640"/>
            <a:ext cx="7315200" cy="548640"/>
          </a:xfrm>
          <a:prstGeom prst="rect">
            <a:avLst/>
          </a:prstGeom>
          <a:noFill/>
          <a:ln/>
        </p:spPr>
        <p:txBody>
          <a:bodyPr wrap="square" lIns="0" tIns="0" rIns="0" bIns="0" rtlCol="0" anchor="ctr"/>
          <a:lstStyle/>
          <a:p>
            <a:pPr marL="0" indent="0">
              <a:buNone/>
            </a:pPr>
            <a:r>
              <a:rPr lang="en-US" sz="1400" dirty="0">
                <a:solidFill>
                  <a:srgbClr val="2D2D2D"/>
                </a:solidFill>
                <a:latin typeface="Circular Std Medium" panose="020B0604020101010102" pitchFamily="34" charset="77"/>
                <a:ea typeface="Arial" pitchFamily="34" charset="-122"/>
                <a:cs typeface="Circular Std Medium" panose="020B0604020101010102" pitchFamily="34" charset="77"/>
              </a:rPr>
              <a:t>Garantie classique seule → en dernier recours, on conserve au minimum la garantie</a:t>
            </a:r>
            <a:endParaRPr lang="en-US" sz="1400" dirty="0">
              <a:latin typeface="Circular Std Medium" panose="020B0604020101010102" pitchFamily="34" charset="77"/>
              <a:cs typeface="Circular Std Medium" panose="020B0604020101010102" pitchFamily="34" charset="77"/>
            </a:endParaRPr>
          </a:p>
        </p:txBody>
      </p:sp>
      <p:sp>
        <p:nvSpPr>
          <p:cNvPr id="21" name="Text 19"/>
          <p:cNvSpPr/>
          <p:nvPr/>
        </p:nvSpPr>
        <p:spPr>
          <a:xfrm>
            <a:off x="457200" y="4709160"/>
            <a:ext cx="8229600" cy="365760"/>
          </a:xfrm>
          <a:prstGeom prst="rect">
            <a:avLst/>
          </a:prstGeom>
          <a:noFill/>
          <a:ln/>
        </p:spPr>
        <p:txBody>
          <a:bodyPr wrap="square" lIns="0" tIns="0" rIns="0" bIns="0" rtlCol="0" anchor="ctr"/>
          <a:lstStyle/>
          <a:p>
            <a:pPr marL="0" indent="0">
              <a:buNone/>
            </a:pPr>
            <a:r>
              <a:rPr lang="en-US" sz="1300" b="1" dirty="0">
                <a:solidFill>
                  <a:srgbClr val="E30613"/>
                </a:solidFill>
                <a:latin typeface="Circular Std Medium" panose="020B0604020101010102" pitchFamily="34" charset="77"/>
                <a:ea typeface="Arial" pitchFamily="34" charset="-122"/>
                <a:cs typeface="Circular Std Medium" panose="020B0604020101010102" pitchFamily="34" charset="77"/>
              </a:rPr>
              <a:t>⚠ On ne propose jamais la protection esthétique AVANT la garantie. C'est un complément.</a:t>
            </a:r>
            <a:endParaRPr lang="en-US" sz="13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Le rebond en caisse</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400" i="1" dirty="0">
                <a:solidFill>
                  <a:srgbClr val="666666"/>
                </a:solidFill>
                <a:latin typeface="Circular Std Medium" panose="020B0604020101010102" pitchFamily="34" charset="77"/>
                <a:ea typeface="Arial" pitchFamily="34" charset="-122"/>
                <a:cs typeface="Circular Std Medium" panose="020B0604020101010102" pitchFamily="34" charset="77"/>
              </a:rPr>
              <a:t>L'hôtesse a besoin d'une question et d'une phrase, pas d'un argumentaire.</a:t>
            </a:r>
            <a:endParaRPr lang="en-US" sz="14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371600"/>
            <a:ext cx="8229600" cy="1097280"/>
          </a:xfrm>
          <a:prstGeom prst="rect">
            <a:avLst/>
          </a:prstGeom>
          <a:solidFill>
            <a:srgbClr val="F5F5F5"/>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417320"/>
            <a:ext cx="786384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La question :</a:t>
            </a:r>
            <a:endParaRPr lang="en-US" sz="14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1783080"/>
            <a:ext cx="7863840" cy="548640"/>
          </a:xfrm>
          <a:prstGeom prst="rect">
            <a:avLst/>
          </a:prstGeom>
          <a:noFill/>
          <a:ln/>
        </p:spPr>
        <p:txBody>
          <a:bodyPr wrap="square" lIns="0" tIns="0" rIns="0" bIns="0" rtlCol="0" anchor="ctr"/>
          <a:lstStyle/>
          <a:p>
            <a:pPr marL="0" indent="0">
              <a:buNone/>
            </a:pPr>
            <a:r>
              <a:rPr lang="en-US" sz="1600" i="1" dirty="0">
                <a:solidFill>
                  <a:srgbClr val="E30613"/>
                </a:solidFill>
                <a:latin typeface="Circular Std Medium" panose="020B0604020101010102" pitchFamily="34" charset="77"/>
                <a:ea typeface="Arial" pitchFamily="34" charset="-122"/>
                <a:cs typeface="Circular Std Medium" panose="020B0604020101010102" pitchFamily="34" charset="77"/>
              </a:rPr>
              <a:t>« Je vois que vous avez un canapé. Le vendeur vous a proposé la protection taches et rayures ? »</a:t>
            </a:r>
            <a:endParaRPr lang="en-US" sz="1600" dirty="0">
              <a:latin typeface="Circular Std Medium" panose="020B0604020101010102" pitchFamily="34" charset="77"/>
              <a:cs typeface="Circular Std Medium" panose="020B0604020101010102" pitchFamily="34" charset="77"/>
            </a:endParaRPr>
          </a:p>
        </p:txBody>
      </p:sp>
      <p:sp>
        <p:nvSpPr>
          <p:cNvPr id="8" name="Shape 6"/>
          <p:cNvSpPr/>
          <p:nvPr/>
        </p:nvSpPr>
        <p:spPr>
          <a:xfrm>
            <a:off x="457200" y="2651760"/>
            <a:ext cx="8229600" cy="1097280"/>
          </a:xfrm>
          <a:prstGeom prst="rect">
            <a:avLst/>
          </a:prstGeom>
          <a:solidFill>
            <a:srgbClr val="E8F5E9"/>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9" name="Text 7"/>
          <p:cNvSpPr/>
          <p:nvPr/>
        </p:nvSpPr>
        <p:spPr>
          <a:xfrm>
            <a:off x="640080" y="2697480"/>
            <a:ext cx="7863840" cy="32004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Si le client dit non :</a:t>
            </a:r>
            <a:endParaRPr lang="en-US" sz="1400" dirty="0">
              <a:latin typeface="Circular Std Medium" panose="020B0604020101010102" pitchFamily="34" charset="77"/>
              <a:cs typeface="Circular Std Medium" panose="020B0604020101010102" pitchFamily="34" charset="77"/>
            </a:endParaRPr>
          </a:p>
        </p:txBody>
      </p:sp>
      <p:sp>
        <p:nvSpPr>
          <p:cNvPr id="10" name="Text 8"/>
          <p:cNvSpPr/>
          <p:nvPr/>
        </p:nvSpPr>
        <p:spPr>
          <a:xfrm>
            <a:off x="640080" y="3063240"/>
            <a:ext cx="7863840" cy="548640"/>
          </a:xfrm>
          <a:prstGeom prst="rect">
            <a:avLst/>
          </a:prstGeom>
          <a:noFill/>
          <a:ln/>
        </p:spPr>
        <p:txBody>
          <a:bodyPr wrap="square" lIns="0" tIns="0" rIns="0" bIns="0" rtlCol="0" anchor="ctr"/>
          <a:lstStyle/>
          <a:p>
            <a:pPr marL="0" indent="0">
              <a:buNone/>
            </a:pPr>
            <a:r>
              <a:rPr lang="en-US" sz="1600" i="1" dirty="0">
                <a:solidFill>
                  <a:srgbClr val="2E7D32"/>
                </a:solidFill>
                <a:latin typeface="Circular Std Medium" panose="020B0604020101010102" pitchFamily="34" charset="77"/>
                <a:ea typeface="Arial" pitchFamily="34" charset="-122"/>
                <a:cs typeface="Circular Std Medium" panose="020B0604020101010102" pitchFamily="34" charset="77"/>
              </a:rPr>
              <a:t>« C'est [X] €. Si votre canapé est abîmé, on vous rembourse en bon d'achat. Je vous l'ajoute ? »</a:t>
            </a:r>
            <a:endParaRPr lang="en-US" sz="1600" dirty="0">
              <a:latin typeface="Circular Std Medium" panose="020B0604020101010102" pitchFamily="34" charset="77"/>
              <a:cs typeface="Circular Std Medium" panose="020B0604020101010102" pitchFamily="34" charset="77"/>
            </a:endParaRPr>
          </a:p>
        </p:txBody>
      </p:sp>
      <p:sp>
        <p:nvSpPr>
          <p:cNvPr id="11" name="Shape 9"/>
          <p:cNvSpPr/>
          <p:nvPr/>
        </p:nvSpPr>
        <p:spPr>
          <a:xfrm>
            <a:off x="457200" y="3931920"/>
            <a:ext cx="8229600" cy="731520"/>
          </a:xfrm>
          <a:prstGeom prst="rect">
            <a:avLst/>
          </a:prstGeom>
          <a:solidFill>
            <a:srgbClr val="FFEBEE"/>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2" name="Text 10"/>
          <p:cNvSpPr/>
          <p:nvPr/>
        </p:nvSpPr>
        <p:spPr>
          <a:xfrm>
            <a:off x="640080" y="4069080"/>
            <a:ext cx="7863840" cy="457200"/>
          </a:xfrm>
          <a:prstGeom prst="rect">
            <a:avLst/>
          </a:prstGeom>
          <a:noFill/>
          <a:ln/>
        </p:spPr>
        <p:txBody>
          <a:bodyPr wrap="square" lIns="0" tIns="0" rIns="0" bIns="0" rtlCol="0" anchor="ctr"/>
          <a:lstStyle/>
          <a:p>
            <a:pPr marL="0" indent="0">
              <a:buNone/>
            </a:pPr>
            <a:r>
              <a:rPr lang="en-US" sz="1400" dirty="0">
                <a:solidFill>
                  <a:srgbClr val="E30613"/>
                </a:solidFill>
                <a:latin typeface="Circular Std Medium" panose="020B0604020101010102" pitchFamily="34" charset="77"/>
                <a:ea typeface="Arial" pitchFamily="34" charset="-122"/>
                <a:cs typeface="Circular Std Medium" panose="020B0604020101010102" pitchFamily="34" charset="77"/>
              </a:rPr>
              <a:t>Si le client avait déjà refusé au vendeur : on ne relance pas. On respecte le choix.</a:t>
            </a:r>
            <a:endParaRPr lang="en-US" sz="14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D2D2D"/>
        </a:solidFill>
        <a:effectLst/>
      </p:bgPr>
    </p:bg>
    <p:spTree>
      <p:nvGrpSpPr>
        <p:cNvPr id="1" name=""/>
        <p:cNvGrpSpPr/>
        <p:nvPr/>
      </p:nvGrpSpPr>
      <p:grpSpPr>
        <a:xfrm>
          <a:off x="0" y="0"/>
          <a:ext cx="0" cy="0"/>
          <a:chOff x="0" y="0"/>
          <a:chExt cx="0" cy="0"/>
        </a:xfrm>
      </p:grpSpPr>
      <p:sp>
        <p:nvSpPr>
          <p:cNvPr id="2" name="Shape 0"/>
          <p:cNvSpPr/>
          <p:nvPr/>
        </p:nvSpPr>
        <p:spPr>
          <a:xfrm>
            <a:off x="457200" y="2286000"/>
            <a:ext cx="137160" cy="9144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777240" y="2103120"/>
            <a:ext cx="7772400" cy="1280160"/>
          </a:xfrm>
          <a:prstGeom prst="rect">
            <a:avLst/>
          </a:prstGeom>
          <a:noFill/>
          <a:ln/>
        </p:spPr>
        <p:txBody>
          <a:bodyPr wrap="square" lIns="0" tIns="0" rIns="0" bIns="0" rtlCol="0" anchor="ctr"/>
          <a:lstStyle/>
          <a:p>
            <a:pPr marL="0" indent="0">
              <a:buNone/>
            </a:pPr>
            <a:r>
              <a:rPr lang="en-US" sz="4000" b="1" dirty="0">
                <a:solidFill>
                  <a:srgbClr val="FFFFFF"/>
                </a:solidFill>
                <a:latin typeface="Circular Std Medium" panose="020B0604020101010102" pitchFamily="34" charset="77"/>
                <a:ea typeface="Arial" pitchFamily="34" charset="-122"/>
                <a:cs typeface="Circular Std Medium" panose="020B0604020101010102" pitchFamily="34" charset="77"/>
              </a:rPr>
              <a:t>Process opérationnel</a:t>
            </a:r>
            <a:endParaRPr lang="en-US" sz="40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Le process en magasin</a:t>
            </a:r>
            <a:endParaRPr lang="en-US" sz="2800" dirty="0">
              <a:latin typeface="Circular Std Medium" panose="020B0604020101010102" pitchFamily="34" charset="77"/>
              <a:cs typeface="Circular Std Medium" panose="020B0604020101010102" pitchFamily="34" charset="77"/>
            </a:endParaRPr>
          </a:p>
        </p:txBody>
      </p:sp>
      <p:sp>
        <p:nvSpPr>
          <p:cNvPr id="4" name="Shape 2"/>
          <p:cNvSpPr/>
          <p:nvPr/>
        </p:nvSpPr>
        <p:spPr>
          <a:xfrm>
            <a:off x="457200" y="1097280"/>
            <a:ext cx="457200" cy="457200"/>
          </a:xfrm>
          <a:prstGeom prst="ellipse">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5" name="Text 3"/>
          <p:cNvSpPr/>
          <p:nvPr/>
        </p:nvSpPr>
        <p:spPr>
          <a:xfrm>
            <a:off x="457200" y="1143000"/>
            <a:ext cx="4572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ircular Std Medium" panose="020B0604020101010102" pitchFamily="34" charset="77"/>
                <a:ea typeface="Arial" pitchFamily="34" charset="-122"/>
                <a:cs typeface="Circular Std Medium" panose="020B0604020101010102" pitchFamily="34" charset="77"/>
              </a:rPr>
              <a:t>1</a:t>
            </a:r>
            <a:endParaRPr lang="en-US" sz="2000" dirty="0">
              <a:latin typeface="Circular Std Medium" panose="020B0604020101010102" pitchFamily="34" charset="77"/>
              <a:cs typeface="Circular Std Medium" panose="020B0604020101010102" pitchFamily="34" charset="77"/>
            </a:endParaRPr>
          </a:p>
        </p:txBody>
      </p:sp>
      <p:sp>
        <p:nvSpPr>
          <p:cNvPr id="6" name="Text 4"/>
          <p:cNvSpPr/>
          <p:nvPr/>
        </p:nvSpPr>
        <p:spPr>
          <a:xfrm>
            <a:off x="1097280" y="1097280"/>
            <a:ext cx="2743200" cy="36576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Bon de commande</a:t>
            </a:r>
            <a:endParaRPr lang="en-US" sz="16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1097280" y="1463040"/>
            <a:ext cx="7315200" cy="457200"/>
          </a:xfrm>
          <a:prstGeom prst="rect">
            <a:avLst/>
          </a:prstGeom>
          <a:noFill/>
          <a:ln/>
        </p:spPr>
        <p:txBody>
          <a:bodyPr wrap="square" lIns="0" tIns="0" rIns="0" bIns="0" rtlCol="0" anchor="ctr"/>
          <a:lstStyle/>
          <a:p>
            <a:pPr marL="0" indent="0">
              <a:buNone/>
            </a:pP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Le vendeur ajoute la protection Estaly (EAN dédié par tranche de prix)</a:t>
            </a:r>
            <a:endParaRPr lang="en-US" sz="1300" dirty="0">
              <a:latin typeface="Circular Std Medium" panose="020B0604020101010102" pitchFamily="34" charset="77"/>
              <a:cs typeface="Circular Std Medium" panose="020B0604020101010102" pitchFamily="34" charset="77"/>
            </a:endParaRPr>
          </a:p>
        </p:txBody>
      </p:sp>
      <p:sp>
        <p:nvSpPr>
          <p:cNvPr id="8" name="Shape 6"/>
          <p:cNvSpPr/>
          <p:nvPr/>
        </p:nvSpPr>
        <p:spPr>
          <a:xfrm>
            <a:off x="457200" y="2011680"/>
            <a:ext cx="457200" cy="457200"/>
          </a:xfrm>
          <a:prstGeom prst="ellipse">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9" name="Text 7"/>
          <p:cNvSpPr/>
          <p:nvPr/>
        </p:nvSpPr>
        <p:spPr>
          <a:xfrm>
            <a:off x="457200" y="2057400"/>
            <a:ext cx="4572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ircular Std Medium" panose="020B0604020101010102" pitchFamily="34" charset="77"/>
                <a:ea typeface="Arial" pitchFamily="34" charset="-122"/>
                <a:cs typeface="Circular Std Medium" panose="020B0604020101010102" pitchFamily="34" charset="77"/>
              </a:rPr>
              <a:t>2</a:t>
            </a:r>
            <a:endParaRPr lang="en-US" sz="2000" dirty="0">
              <a:latin typeface="Circular Std Medium" panose="020B0604020101010102" pitchFamily="34" charset="77"/>
              <a:cs typeface="Circular Std Medium" panose="020B0604020101010102" pitchFamily="34" charset="77"/>
            </a:endParaRPr>
          </a:p>
        </p:txBody>
      </p:sp>
      <p:sp>
        <p:nvSpPr>
          <p:cNvPr id="10" name="Text 8"/>
          <p:cNvSpPr/>
          <p:nvPr/>
        </p:nvSpPr>
        <p:spPr>
          <a:xfrm>
            <a:off x="1097280" y="2011680"/>
            <a:ext cx="2743200" cy="36576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Encaissement</a:t>
            </a:r>
            <a:endParaRPr lang="en-US" sz="1600" dirty="0">
              <a:latin typeface="Circular Std Medium" panose="020B0604020101010102" pitchFamily="34" charset="77"/>
              <a:cs typeface="Circular Std Medium" panose="020B0604020101010102" pitchFamily="34" charset="77"/>
            </a:endParaRPr>
          </a:p>
        </p:txBody>
      </p:sp>
      <p:sp>
        <p:nvSpPr>
          <p:cNvPr id="11" name="Text 9"/>
          <p:cNvSpPr/>
          <p:nvPr/>
        </p:nvSpPr>
        <p:spPr>
          <a:xfrm>
            <a:off x="1097280" y="2377440"/>
            <a:ext cx="7315200" cy="457200"/>
          </a:xfrm>
          <a:prstGeom prst="rect">
            <a:avLst/>
          </a:prstGeom>
          <a:noFill/>
          <a:ln/>
        </p:spPr>
        <p:txBody>
          <a:bodyPr wrap="square" lIns="0" tIns="0" rIns="0" bIns="0" rtlCol="0" anchor="ctr"/>
          <a:lstStyle/>
          <a:p>
            <a:pPr marL="0" indent="0">
              <a:buNone/>
            </a:pP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En caisse, l'hôtesse encaisse le produit normalement</a:t>
            </a:r>
            <a:endParaRPr lang="en-US" sz="1300" dirty="0">
              <a:latin typeface="Circular Std Medium" panose="020B0604020101010102" pitchFamily="34" charset="77"/>
              <a:cs typeface="Circular Std Medium" panose="020B0604020101010102" pitchFamily="34" charset="77"/>
            </a:endParaRPr>
          </a:p>
        </p:txBody>
      </p:sp>
      <p:sp>
        <p:nvSpPr>
          <p:cNvPr id="12" name="Shape 10"/>
          <p:cNvSpPr/>
          <p:nvPr/>
        </p:nvSpPr>
        <p:spPr>
          <a:xfrm>
            <a:off x="457200" y="2926080"/>
            <a:ext cx="457200" cy="457200"/>
          </a:xfrm>
          <a:prstGeom prst="ellipse">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3" name="Text 11"/>
          <p:cNvSpPr/>
          <p:nvPr/>
        </p:nvSpPr>
        <p:spPr>
          <a:xfrm>
            <a:off x="457200" y="2971800"/>
            <a:ext cx="4572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ircular Std Medium" panose="020B0604020101010102" pitchFamily="34" charset="77"/>
                <a:ea typeface="Arial" pitchFamily="34" charset="-122"/>
                <a:cs typeface="Circular Std Medium" panose="020B0604020101010102" pitchFamily="34" charset="77"/>
              </a:rPr>
              <a:t>3</a:t>
            </a:r>
            <a:endParaRPr lang="en-US" sz="2000" dirty="0">
              <a:latin typeface="Circular Std Medium" panose="020B0604020101010102" pitchFamily="34" charset="77"/>
              <a:cs typeface="Circular Std Medium" panose="020B0604020101010102" pitchFamily="34" charset="77"/>
            </a:endParaRPr>
          </a:p>
        </p:txBody>
      </p:sp>
      <p:sp>
        <p:nvSpPr>
          <p:cNvPr id="14" name="Text 12"/>
          <p:cNvSpPr/>
          <p:nvPr/>
        </p:nvSpPr>
        <p:spPr>
          <a:xfrm>
            <a:off x="1097280" y="2926080"/>
            <a:ext cx="2743200" cy="36576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Validation Estaly</a:t>
            </a:r>
            <a:endParaRPr lang="en-US" sz="1600" dirty="0">
              <a:latin typeface="Circular Std Medium" panose="020B0604020101010102" pitchFamily="34" charset="77"/>
              <a:cs typeface="Circular Std Medium" panose="020B0604020101010102" pitchFamily="34" charset="77"/>
            </a:endParaRPr>
          </a:p>
        </p:txBody>
      </p:sp>
      <p:sp>
        <p:nvSpPr>
          <p:cNvPr id="15" name="Text 13"/>
          <p:cNvSpPr/>
          <p:nvPr/>
        </p:nvSpPr>
        <p:spPr>
          <a:xfrm>
            <a:off x="1097280" y="3291840"/>
            <a:ext cx="7315200" cy="457200"/>
          </a:xfrm>
          <a:prstGeom prst="rect">
            <a:avLst/>
          </a:prstGeom>
          <a:noFill/>
          <a:ln/>
        </p:spPr>
        <p:txBody>
          <a:bodyPr wrap="square" lIns="0" tIns="0" rIns="0" bIns="0" rtlCol="0" anchor="ctr"/>
          <a:lstStyle/>
          <a:p>
            <a:pPr marL="0" indent="0">
              <a:buNone/>
            </a:pP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Saisie de la carte du client, code SMS de consentement, le client le donne, c'est validé</a:t>
            </a:r>
            <a:endParaRPr lang="en-US" sz="1300" dirty="0">
              <a:latin typeface="Circular Std Medium" panose="020B0604020101010102" pitchFamily="34" charset="77"/>
              <a:cs typeface="Circular Std Medium" panose="020B0604020101010102" pitchFamily="34" charset="77"/>
            </a:endParaRPr>
          </a:p>
        </p:txBody>
      </p:sp>
      <p:sp>
        <p:nvSpPr>
          <p:cNvPr id="16" name="Shape 14"/>
          <p:cNvSpPr/>
          <p:nvPr/>
        </p:nvSpPr>
        <p:spPr>
          <a:xfrm>
            <a:off x="457200" y="3840480"/>
            <a:ext cx="457200" cy="457200"/>
          </a:xfrm>
          <a:prstGeom prst="ellipse">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7" name="Text 15"/>
          <p:cNvSpPr/>
          <p:nvPr/>
        </p:nvSpPr>
        <p:spPr>
          <a:xfrm>
            <a:off x="457200" y="3886200"/>
            <a:ext cx="45720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ircular Std Medium" panose="020B0604020101010102" pitchFamily="34" charset="77"/>
                <a:ea typeface="Arial" pitchFamily="34" charset="-122"/>
                <a:cs typeface="Circular Std Medium" panose="020B0604020101010102" pitchFamily="34" charset="77"/>
              </a:rPr>
              <a:t>4</a:t>
            </a:r>
            <a:endParaRPr lang="en-US" sz="2000" dirty="0">
              <a:latin typeface="Circular Std Medium" panose="020B0604020101010102" pitchFamily="34" charset="77"/>
              <a:cs typeface="Circular Std Medium" panose="020B0604020101010102" pitchFamily="34" charset="77"/>
            </a:endParaRPr>
          </a:p>
        </p:txBody>
      </p:sp>
      <p:sp>
        <p:nvSpPr>
          <p:cNvPr id="18" name="Text 16"/>
          <p:cNvSpPr/>
          <p:nvPr/>
        </p:nvSpPr>
        <p:spPr>
          <a:xfrm>
            <a:off x="1097280" y="3840480"/>
            <a:ext cx="2743200" cy="365760"/>
          </a:xfrm>
          <a:prstGeom prst="rect">
            <a:avLst/>
          </a:prstGeom>
          <a:noFill/>
          <a:ln/>
        </p:spPr>
        <p:txBody>
          <a:bodyPr wrap="square" lIns="0" tIns="0" rIns="0" bIns="0" rtlCol="0" anchor="ctr"/>
          <a:lstStyle/>
          <a:p>
            <a:pPr marL="0" indent="0">
              <a:buNone/>
            </a:pPr>
            <a:r>
              <a:rPr lang="en-US" sz="1600" b="1" dirty="0">
                <a:solidFill>
                  <a:srgbClr val="2D2D2D"/>
                </a:solidFill>
                <a:latin typeface="Circular Std Medium" panose="020B0604020101010102" pitchFamily="34" charset="77"/>
                <a:ea typeface="Arial" pitchFamily="34" charset="-122"/>
                <a:cs typeface="Circular Std Medium" panose="020B0604020101010102" pitchFamily="34" charset="77"/>
              </a:rPr>
              <a:t>Confirmation</a:t>
            </a:r>
            <a:endParaRPr lang="en-US" sz="1600" dirty="0">
              <a:latin typeface="Circular Std Medium" panose="020B0604020101010102" pitchFamily="34" charset="77"/>
              <a:cs typeface="Circular Std Medium" panose="020B0604020101010102" pitchFamily="34" charset="77"/>
            </a:endParaRPr>
          </a:p>
        </p:txBody>
      </p:sp>
      <p:sp>
        <p:nvSpPr>
          <p:cNvPr id="19" name="Text 17"/>
          <p:cNvSpPr/>
          <p:nvPr/>
        </p:nvSpPr>
        <p:spPr>
          <a:xfrm>
            <a:off x="1097280" y="4206240"/>
            <a:ext cx="7315200" cy="457200"/>
          </a:xfrm>
          <a:prstGeom prst="rect">
            <a:avLst/>
          </a:prstGeom>
          <a:noFill/>
          <a:ln/>
        </p:spPr>
        <p:txBody>
          <a:bodyPr wrap="square" lIns="0" tIns="0" rIns="0" bIns="0" rtlCol="0" anchor="ctr"/>
          <a:lstStyle/>
          <a:p>
            <a:pPr marL="0" indent="0">
              <a:buNone/>
            </a:pP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Le client reçoit son contrat par email immédiatement</a:t>
            </a:r>
            <a:endParaRPr lang="en-US" sz="1300" dirty="0">
              <a:latin typeface="Circular Std Medium" panose="020B0604020101010102" pitchFamily="34" charset="77"/>
              <a:cs typeface="Circular Std Medium" panose="020B0604020101010102" pitchFamily="34" charset="77"/>
            </a:endParaRPr>
          </a:p>
        </p:txBody>
      </p:sp>
      <p:sp>
        <p:nvSpPr>
          <p:cNvPr id="20" name="Shape 18"/>
          <p:cNvSpPr/>
          <p:nvPr/>
        </p:nvSpPr>
        <p:spPr>
          <a:xfrm>
            <a:off x="457200" y="4709160"/>
            <a:ext cx="8229600" cy="365760"/>
          </a:xfrm>
          <a:prstGeom prst="rect">
            <a:avLst/>
          </a:prstGeom>
          <a:solidFill>
            <a:srgbClr val="FFEBEE"/>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21" name="Text 19"/>
          <p:cNvSpPr/>
          <p:nvPr/>
        </p:nvSpPr>
        <p:spPr>
          <a:xfrm>
            <a:off x="640080" y="4754880"/>
            <a:ext cx="7863840" cy="274320"/>
          </a:xfrm>
          <a:prstGeom prst="rect">
            <a:avLst/>
          </a:prstGeom>
          <a:noFill/>
          <a:ln/>
        </p:spPr>
        <p:txBody>
          <a:bodyPr wrap="square" lIns="0" tIns="0" rIns="0" bIns="0" rtlCol="0" anchor="ctr"/>
          <a:lstStyle/>
          <a:p>
            <a:pPr marL="0" indent="0">
              <a:buNone/>
            </a:pPr>
            <a:r>
              <a:rPr lang="en-US" sz="1200" b="1" dirty="0">
                <a:solidFill>
                  <a:srgbClr val="E30613"/>
                </a:solidFill>
                <a:latin typeface="Circular Std Medium" panose="020B0604020101010102" pitchFamily="34" charset="77"/>
                <a:ea typeface="Arial" pitchFamily="34" charset="-122"/>
                <a:cs typeface="Circular Std Medium" panose="020B0604020101010102" pitchFamily="34" charset="77"/>
              </a:rPr>
              <a:t>⚠ Tout doit être fait le jour même. Si achat vendredi → impossible de finaliser samedi.</a:t>
            </a:r>
            <a:endParaRPr lang="en-US" sz="12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3" name="Text 1"/>
          <p:cNvSpPr/>
          <p:nvPr/>
        </p:nvSpPr>
        <p:spPr>
          <a:xfrm>
            <a:off x="457200" y="274320"/>
            <a:ext cx="8229600" cy="548640"/>
          </a:xfrm>
          <a:prstGeom prst="rect">
            <a:avLst/>
          </a:prstGeom>
          <a:noFill/>
          <a:ln/>
        </p:spPr>
        <p:txBody>
          <a:bodyPr wrap="square" lIns="0" tIns="0" rIns="0" bIns="0" rtlCol="0" anchor="ctr"/>
          <a:lstStyle/>
          <a:p>
            <a:pPr marL="0" indent="0">
              <a:buNone/>
            </a:pPr>
            <a:r>
              <a:rPr lang="en-US" sz="2800" b="1" dirty="0">
                <a:solidFill>
                  <a:srgbClr val="2D2D2D"/>
                </a:solidFill>
                <a:latin typeface="Circular Std Medium" panose="020B0604020101010102" pitchFamily="34" charset="77"/>
                <a:ea typeface="Arial" pitchFamily="34" charset="-122"/>
                <a:cs typeface="Circular Std Medium" panose="020B0604020101010102" pitchFamily="34" charset="77"/>
              </a:rPr>
              <a:t>Comment le client déclare un sinistre</a:t>
            </a:r>
            <a:endParaRPr lang="en-US" sz="2800" dirty="0">
              <a:latin typeface="Circular Std Medium" panose="020B0604020101010102" pitchFamily="34" charset="77"/>
              <a:cs typeface="Circular Std Medium" panose="020B0604020101010102" pitchFamily="34" charset="77"/>
            </a:endParaRPr>
          </a:p>
        </p:txBody>
      </p:sp>
      <p:sp>
        <p:nvSpPr>
          <p:cNvPr id="4" name="Text 2"/>
          <p:cNvSpPr/>
          <p:nvPr/>
        </p:nvSpPr>
        <p:spPr>
          <a:xfrm>
            <a:off x="457200" y="914400"/>
            <a:ext cx="8229600" cy="365760"/>
          </a:xfrm>
          <a:prstGeom prst="rect">
            <a:avLst/>
          </a:prstGeom>
          <a:noFill/>
          <a:ln/>
        </p:spPr>
        <p:txBody>
          <a:bodyPr wrap="square" lIns="0" tIns="0" rIns="0" bIns="0" rtlCol="0" anchor="ctr"/>
          <a:lstStyle/>
          <a:p>
            <a:pPr marL="0" indent="0">
              <a:buNone/>
            </a:pPr>
            <a:r>
              <a:rPr lang="en-US" sz="1400" i="1" dirty="0">
                <a:solidFill>
                  <a:srgbClr val="666666"/>
                </a:solidFill>
                <a:latin typeface="Circular Std Medium" panose="020B0604020101010102" pitchFamily="34" charset="77"/>
                <a:ea typeface="Arial" pitchFamily="34" charset="-122"/>
                <a:cs typeface="Circular Std Medium" panose="020B0604020101010102" pitchFamily="34" charset="77"/>
              </a:rPr>
              <a:t>C'est la question la plus fréquente. Voici la réponse simple :</a:t>
            </a:r>
            <a:endParaRPr lang="en-US" sz="14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1371600"/>
            <a:ext cx="8229600" cy="2286000"/>
          </a:xfrm>
          <a:prstGeom prst="rect">
            <a:avLst/>
          </a:prstGeom>
          <a:solidFill>
            <a:srgbClr val="E3F2FD"/>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640080" y="1554480"/>
            <a:ext cx="7863840" cy="91440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 Vous allez sur votre espace client Estaly, vous prenez quelques photos du dommage, vous décrivez ce qui s'est passé. C'est 3 minutes.</a:t>
            </a:r>
            <a:endParaRPr lang="en-US" sz="1800" dirty="0">
              <a:latin typeface="Circular Std Medium" panose="020B0604020101010102" pitchFamily="34" charset="77"/>
              <a:cs typeface="Circular Std Medium" panose="020B0604020101010102" pitchFamily="34" charset="77"/>
            </a:endParaRPr>
          </a:p>
        </p:txBody>
      </p:sp>
      <p:sp>
        <p:nvSpPr>
          <p:cNvPr id="7" name="Text 5"/>
          <p:cNvSpPr/>
          <p:nvPr/>
        </p:nvSpPr>
        <p:spPr>
          <a:xfrm>
            <a:off x="640080" y="2560320"/>
            <a:ext cx="7863840" cy="731520"/>
          </a:xfrm>
          <a:prstGeom prst="rect">
            <a:avLst/>
          </a:prstGeom>
          <a:noFill/>
          <a:ln/>
        </p:spPr>
        <p:txBody>
          <a:bodyPr wrap="square" lIns="0" tIns="0" rIns="0" bIns="0" rtlCol="0" anchor="ctr"/>
          <a:lstStyle/>
          <a:p>
            <a:pPr marL="0" indent="0">
              <a:buNone/>
            </a:pPr>
            <a:r>
              <a:rPr lang="en-US" sz="1800" i="1" dirty="0">
                <a:solidFill>
                  <a:srgbClr val="2D2D2D"/>
                </a:solidFill>
                <a:latin typeface="Circular Std Medium" panose="020B0604020101010102" pitchFamily="34" charset="77"/>
                <a:ea typeface="Arial" pitchFamily="34" charset="-122"/>
                <a:cs typeface="Circular Std Medium" panose="020B0604020101010102" pitchFamily="34" charset="77"/>
              </a:rPr>
              <a:t>On vous répond dans la journée, et si c'est accepté, vous recevez votre bon d'achat sous 48h. »</a:t>
            </a:r>
            <a:endParaRPr lang="en-US" sz="1800" dirty="0">
              <a:latin typeface="Circular Std Medium" panose="020B0604020101010102" pitchFamily="34" charset="77"/>
              <a:cs typeface="Circular Std Medium" panose="020B0604020101010102" pitchFamily="34" charset="77"/>
            </a:endParaRPr>
          </a:p>
        </p:txBody>
      </p:sp>
      <p:sp>
        <p:nvSpPr>
          <p:cNvPr id="8" name="Text 6"/>
          <p:cNvSpPr/>
          <p:nvPr/>
        </p:nvSpPr>
        <p:spPr>
          <a:xfrm>
            <a:off x="457200" y="3749040"/>
            <a:ext cx="8229600" cy="365760"/>
          </a:xfrm>
          <a:prstGeom prst="rect">
            <a:avLst/>
          </a:prstGeom>
          <a:noFill/>
          <a:ln/>
        </p:spPr>
        <p:txBody>
          <a:bodyPr wrap="square" lIns="0" tIns="0" rIns="0" bIns="0" rtlCol="0" anchor="ctr"/>
          <a:lstStyle/>
          <a:p>
            <a:pPr marL="0" indent="0">
              <a:buNone/>
            </a:pPr>
            <a:r>
              <a:rPr lang="en-US" sz="1400" b="1" dirty="0">
                <a:solidFill>
                  <a:srgbClr val="2D2D2D"/>
                </a:solidFill>
                <a:latin typeface="Circular Std Medium" panose="020B0604020101010102" pitchFamily="34" charset="77"/>
                <a:ea typeface="Arial" pitchFamily="34" charset="-122"/>
                <a:cs typeface="Circular Std Medium" panose="020B0604020101010102" pitchFamily="34" charset="77"/>
              </a:rPr>
              <a:t>Détails techniques (pour info) :</a:t>
            </a:r>
            <a:endParaRPr lang="en-US" sz="1400" dirty="0">
              <a:latin typeface="Circular Std Medium" panose="020B0604020101010102" pitchFamily="34" charset="77"/>
              <a:cs typeface="Circular Std Medium" panose="020B0604020101010102" pitchFamily="34" charset="77"/>
            </a:endParaRPr>
          </a:p>
        </p:txBody>
      </p:sp>
      <p:sp>
        <p:nvSpPr>
          <p:cNvPr id="9" name="Text 7"/>
          <p:cNvSpPr/>
          <p:nvPr/>
        </p:nvSpPr>
        <p:spPr>
          <a:xfrm>
            <a:off x="457200" y="4114800"/>
            <a:ext cx="8229600" cy="91440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300" dirty="0" err="1">
                <a:solidFill>
                  <a:srgbClr val="666666"/>
                </a:solidFill>
                <a:latin typeface="Circular Std Medium" panose="020B0604020101010102" pitchFamily="34" charset="77"/>
                <a:ea typeface="Arial" pitchFamily="34" charset="-122"/>
                <a:cs typeface="Circular Std Medium" panose="020B0604020101010102" pitchFamily="34" charset="77"/>
              </a:rPr>
              <a:t>Délai</a:t>
            </a: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 de déclaration : 15 jours après le sinistre</a:t>
            </a:r>
            <a:endParaRPr lang="en-US" sz="1300" dirty="0">
              <a:latin typeface="Circular Std Medium" panose="020B0604020101010102" pitchFamily="34" charset="77"/>
              <a:cs typeface="Circular Std Medium" panose="020B0604020101010102" pitchFamily="34" charset="77"/>
            </a:endParaRPr>
          </a:p>
          <a:p>
            <a:pPr marL="285750" indent="-285750">
              <a:buFont typeface="Arial" panose="020B0604020202020204" pitchFamily="34" charset="0"/>
              <a:buChar char="•"/>
            </a:pPr>
            <a:r>
              <a:rPr lang="en-US" sz="1300" dirty="0" err="1">
                <a:solidFill>
                  <a:srgbClr val="666666"/>
                </a:solidFill>
                <a:latin typeface="Circular Std Medium" panose="020B0604020101010102" pitchFamily="34" charset="77"/>
                <a:ea typeface="Arial" pitchFamily="34" charset="-122"/>
                <a:cs typeface="Circular Std Medium" panose="020B0604020101010102" pitchFamily="34" charset="77"/>
              </a:rPr>
              <a:t>Pièces</a:t>
            </a: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 requises : photos (vue large + gros plan) + description</a:t>
            </a:r>
            <a:endParaRPr lang="en-US" sz="1300" dirty="0">
              <a:latin typeface="Circular Std Medium" panose="020B0604020101010102" pitchFamily="34" charset="77"/>
              <a:cs typeface="Circular Std Medium" panose="020B0604020101010102" pitchFamily="34" charset="77"/>
            </a:endParaRPr>
          </a:p>
          <a:p>
            <a:pPr marL="285750" indent="-285750">
              <a:buFont typeface="Arial" panose="020B0604020202020204" pitchFamily="34" charset="0"/>
              <a:buChar char="•"/>
            </a:pPr>
            <a:r>
              <a:rPr lang="en-US" sz="1300" dirty="0" err="1">
                <a:solidFill>
                  <a:srgbClr val="666666"/>
                </a:solidFill>
                <a:latin typeface="Circular Std Medium" panose="020B0604020101010102" pitchFamily="34" charset="77"/>
                <a:ea typeface="Arial" pitchFamily="34" charset="-122"/>
                <a:cs typeface="Circular Std Medium" panose="020B0604020101010102" pitchFamily="34" charset="77"/>
              </a:rPr>
              <a:t>Décision</a:t>
            </a: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 : sous 24h en moyenne (97% des cas)</a:t>
            </a:r>
            <a:endParaRPr lang="en-US" sz="1300" dirty="0">
              <a:latin typeface="Circular Std Medium" panose="020B0604020101010102" pitchFamily="34" charset="77"/>
              <a:cs typeface="Circular Std Medium" panose="020B0604020101010102" pitchFamily="34" charset="77"/>
            </a:endParaRPr>
          </a:p>
          <a:p>
            <a:pPr marL="285750" indent="-285750">
              <a:buFont typeface="Arial" panose="020B0604020202020204" pitchFamily="34" charset="0"/>
              <a:buChar char="•"/>
            </a:pPr>
            <a:r>
              <a:rPr lang="en-US" sz="1300" dirty="0">
                <a:solidFill>
                  <a:srgbClr val="666666"/>
                </a:solidFill>
                <a:latin typeface="Circular Std Medium" panose="020B0604020101010102" pitchFamily="34" charset="77"/>
                <a:ea typeface="Arial" pitchFamily="34" charset="-122"/>
                <a:cs typeface="Circular Std Medium" panose="020B0604020101010102" pitchFamily="34" charset="77"/>
              </a:rPr>
              <a:t>Bon d'achat : émis sous 48h, valable 12 mois</a:t>
            </a:r>
            <a:endParaRPr lang="en-US" sz="13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D2D2D"/>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marL="0" indent="0">
              <a:buNone/>
            </a:pPr>
            <a:r>
              <a:rPr lang="en-US" sz="3600" b="1" dirty="0">
                <a:solidFill>
                  <a:srgbClr val="FFFFFF"/>
                </a:solidFill>
                <a:latin typeface="Circular Std Medium" panose="020B0604020101010102" pitchFamily="34" charset="77"/>
                <a:ea typeface="Arial" pitchFamily="34" charset="-122"/>
                <a:cs typeface="Circular Std Medium" panose="020B0604020101010102" pitchFamily="34" charset="77"/>
              </a:rPr>
              <a:t>En résumé</a:t>
            </a:r>
            <a:endParaRPr lang="en-US" sz="3600" dirty="0">
              <a:latin typeface="Circular Std Medium" panose="020B0604020101010102" pitchFamily="34" charset="77"/>
              <a:cs typeface="Circular Std Medium" panose="020B0604020101010102" pitchFamily="34" charset="77"/>
            </a:endParaRPr>
          </a:p>
        </p:txBody>
      </p:sp>
      <p:sp>
        <p:nvSpPr>
          <p:cNvPr id="3" name="Shape 1"/>
          <p:cNvSpPr/>
          <p:nvPr/>
        </p:nvSpPr>
        <p:spPr>
          <a:xfrm>
            <a:off x="457200" y="1371600"/>
            <a:ext cx="91440" cy="4572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4" name="Text 2"/>
          <p:cNvSpPr/>
          <p:nvPr/>
        </p:nvSpPr>
        <p:spPr>
          <a:xfrm>
            <a:off x="731520" y="1371600"/>
            <a:ext cx="7772400" cy="457200"/>
          </a:xfrm>
          <a:prstGeom prst="rect">
            <a:avLst/>
          </a:prstGeom>
          <a:noFill/>
          <a:ln/>
        </p:spPr>
        <p:txBody>
          <a:bodyPr wrap="square" lIns="0" tIns="0" rIns="0" bIns="0" rtlCol="0" anchor="ctr"/>
          <a:lstStyle/>
          <a:p>
            <a:pPr marL="0" indent="0">
              <a:buNone/>
            </a:pPr>
            <a:r>
              <a:rPr lang="en-US" sz="1800" dirty="0">
                <a:solidFill>
                  <a:srgbClr val="FFFFFF"/>
                </a:solidFill>
                <a:latin typeface="Circular Std Medium" panose="020B0604020101010102" pitchFamily="34" charset="77"/>
                <a:ea typeface="Arial" pitchFamily="34" charset="-122"/>
                <a:cs typeface="Circular Std Medium" panose="020B0604020101010102" pitchFamily="34" charset="77"/>
              </a:rPr>
              <a:t>Une phrase d'amorce, pas un discours</a:t>
            </a:r>
            <a:endParaRPr lang="en-US" sz="1800" dirty="0">
              <a:latin typeface="Circular Std Medium" panose="020B0604020101010102" pitchFamily="34" charset="77"/>
              <a:cs typeface="Circular Std Medium" panose="020B0604020101010102" pitchFamily="34" charset="77"/>
            </a:endParaRPr>
          </a:p>
        </p:txBody>
      </p:sp>
      <p:sp>
        <p:nvSpPr>
          <p:cNvPr id="5" name="Shape 3"/>
          <p:cNvSpPr/>
          <p:nvPr/>
        </p:nvSpPr>
        <p:spPr>
          <a:xfrm>
            <a:off x="457200" y="2057400"/>
            <a:ext cx="91440" cy="4572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6" name="Text 4"/>
          <p:cNvSpPr/>
          <p:nvPr/>
        </p:nvSpPr>
        <p:spPr>
          <a:xfrm>
            <a:off x="731520" y="2057400"/>
            <a:ext cx="7772400" cy="457200"/>
          </a:xfrm>
          <a:prstGeom prst="rect">
            <a:avLst/>
          </a:prstGeom>
          <a:noFill/>
          <a:ln/>
        </p:spPr>
        <p:txBody>
          <a:bodyPr wrap="square" lIns="0" tIns="0" rIns="0" bIns="0" rtlCol="0" anchor="ctr"/>
          <a:lstStyle/>
          <a:p>
            <a:pPr marL="0" indent="0">
              <a:buNone/>
            </a:pPr>
            <a:r>
              <a:rPr lang="en-US" sz="1800" dirty="0">
                <a:solidFill>
                  <a:srgbClr val="FFFFFF"/>
                </a:solidFill>
                <a:latin typeface="Circular Std Medium" panose="020B0604020101010102" pitchFamily="34" charset="77"/>
                <a:ea typeface="Arial" pitchFamily="34" charset="-122"/>
                <a:cs typeface="Circular Std Medium" panose="020B0604020101010102" pitchFamily="34" charset="77"/>
              </a:rPr>
              <a:t>3 réponses selon la réaction du client, pas 10 arguments</a:t>
            </a:r>
            <a:endParaRPr lang="en-US" sz="1800" dirty="0">
              <a:latin typeface="Circular Std Medium" panose="020B0604020101010102" pitchFamily="34" charset="77"/>
              <a:cs typeface="Circular Std Medium" panose="020B0604020101010102" pitchFamily="34" charset="77"/>
            </a:endParaRPr>
          </a:p>
        </p:txBody>
      </p:sp>
      <p:sp>
        <p:nvSpPr>
          <p:cNvPr id="7" name="Shape 5"/>
          <p:cNvSpPr/>
          <p:nvPr/>
        </p:nvSpPr>
        <p:spPr>
          <a:xfrm>
            <a:off x="457200" y="2743200"/>
            <a:ext cx="91440" cy="4572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8" name="Text 6"/>
          <p:cNvSpPr/>
          <p:nvPr/>
        </p:nvSpPr>
        <p:spPr>
          <a:xfrm>
            <a:off x="731520" y="2743200"/>
            <a:ext cx="7772400" cy="457200"/>
          </a:xfrm>
          <a:prstGeom prst="rect">
            <a:avLst/>
          </a:prstGeom>
          <a:noFill/>
          <a:ln/>
        </p:spPr>
        <p:txBody>
          <a:bodyPr wrap="square" lIns="0" tIns="0" rIns="0" bIns="0" rtlCol="0" anchor="ctr"/>
          <a:lstStyle/>
          <a:p>
            <a:pPr marL="0" indent="0">
              <a:buNone/>
            </a:pPr>
            <a:r>
              <a:rPr lang="en-US" sz="1800" dirty="0">
                <a:solidFill>
                  <a:srgbClr val="FFFFFF"/>
                </a:solidFill>
                <a:latin typeface="Circular Std Medium" panose="020B0604020101010102" pitchFamily="34" charset="77"/>
                <a:ea typeface="Arial" pitchFamily="34" charset="-122"/>
                <a:cs typeface="Circular Std Medium" panose="020B0604020101010102" pitchFamily="34" charset="77"/>
              </a:rPr>
              <a:t>Jamais le mot "assurance", toujours "protection"</a:t>
            </a:r>
            <a:endParaRPr lang="en-US" sz="1800" dirty="0">
              <a:latin typeface="Circular Std Medium" panose="020B0604020101010102" pitchFamily="34" charset="77"/>
              <a:cs typeface="Circular Std Medium" panose="020B0604020101010102" pitchFamily="34" charset="77"/>
            </a:endParaRPr>
          </a:p>
        </p:txBody>
      </p:sp>
      <p:sp>
        <p:nvSpPr>
          <p:cNvPr id="9" name="Shape 7"/>
          <p:cNvSpPr/>
          <p:nvPr/>
        </p:nvSpPr>
        <p:spPr>
          <a:xfrm>
            <a:off x="457200" y="3429000"/>
            <a:ext cx="91440" cy="4572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0" name="Text 8"/>
          <p:cNvSpPr/>
          <p:nvPr/>
        </p:nvSpPr>
        <p:spPr>
          <a:xfrm>
            <a:off x="731520" y="3429000"/>
            <a:ext cx="7772400" cy="457200"/>
          </a:xfrm>
          <a:prstGeom prst="rect">
            <a:avLst/>
          </a:prstGeom>
          <a:noFill/>
          <a:ln/>
        </p:spPr>
        <p:txBody>
          <a:bodyPr wrap="square" lIns="0" tIns="0" rIns="0" bIns="0" rtlCol="0" anchor="ctr"/>
          <a:lstStyle/>
          <a:p>
            <a:pPr marL="0" indent="0">
              <a:buNone/>
            </a:pPr>
            <a:r>
              <a:rPr lang="en-US" sz="1800" dirty="0">
                <a:solidFill>
                  <a:srgbClr val="FFFFFF"/>
                </a:solidFill>
                <a:latin typeface="Circular Std Medium" panose="020B0604020101010102" pitchFamily="34" charset="77"/>
                <a:ea typeface="Arial" pitchFamily="34" charset="-122"/>
                <a:cs typeface="Circular Std Medium" panose="020B0604020101010102" pitchFamily="34" charset="77"/>
              </a:rPr>
              <a:t>On ne contredit jamais le client, on valide puis on déplace</a:t>
            </a:r>
            <a:endParaRPr lang="en-US" sz="1800" dirty="0">
              <a:latin typeface="Circular Std Medium" panose="020B0604020101010102" pitchFamily="34" charset="77"/>
              <a:cs typeface="Circular Std Medium" panose="020B0604020101010102" pitchFamily="34" charset="77"/>
            </a:endParaRPr>
          </a:p>
        </p:txBody>
      </p:sp>
      <p:sp>
        <p:nvSpPr>
          <p:cNvPr id="11" name="Shape 9"/>
          <p:cNvSpPr/>
          <p:nvPr/>
        </p:nvSpPr>
        <p:spPr>
          <a:xfrm>
            <a:off x="457200" y="4114800"/>
            <a:ext cx="91440" cy="457200"/>
          </a:xfrm>
          <a:prstGeom prst="rect">
            <a:avLst/>
          </a:prstGeom>
          <a:solidFill>
            <a:srgbClr val="E30613"/>
          </a:solidFill>
          <a:ln/>
        </p:spPr>
        <p:txBody>
          <a:bodyPr/>
          <a:lstStyle/>
          <a:p>
            <a:endParaRPr lang="fr-FR">
              <a:latin typeface="Circular Std Medium" panose="020B0604020101010102" pitchFamily="34" charset="77"/>
              <a:cs typeface="Circular Std Medium" panose="020B0604020101010102" pitchFamily="34" charset="77"/>
            </a:endParaRPr>
          </a:p>
        </p:txBody>
      </p:sp>
      <p:sp>
        <p:nvSpPr>
          <p:cNvPr id="12" name="Text 10"/>
          <p:cNvSpPr/>
          <p:nvPr/>
        </p:nvSpPr>
        <p:spPr>
          <a:xfrm>
            <a:off x="731520" y="4114800"/>
            <a:ext cx="7772400" cy="457200"/>
          </a:xfrm>
          <a:prstGeom prst="rect">
            <a:avLst/>
          </a:prstGeom>
          <a:noFill/>
          <a:ln/>
        </p:spPr>
        <p:txBody>
          <a:bodyPr wrap="square" lIns="0" tIns="0" rIns="0" bIns="0" rtlCol="0" anchor="ctr"/>
          <a:lstStyle/>
          <a:p>
            <a:pPr marL="0" indent="0">
              <a:buNone/>
            </a:pPr>
            <a:r>
              <a:rPr lang="en-US" sz="1800" dirty="0">
                <a:solidFill>
                  <a:srgbClr val="FFFFFF"/>
                </a:solidFill>
                <a:latin typeface="Circular Std Medium" panose="020B0604020101010102" pitchFamily="34" charset="77"/>
                <a:ea typeface="Arial" pitchFamily="34" charset="-122"/>
                <a:cs typeface="Circular Std Medium" panose="020B0604020101010102" pitchFamily="34" charset="77"/>
              </a:rPr>
              <a:t>Toujours proposer : le pire, c'est de ne rien dire</a:t>
            </a:r>
            <a:endParaRPr lang="en-US" sz="1800" dirty="0">
              <a:latin typeface="Circular Std Medium" panose="020B0604020101010102" pitchFamily="34" charset="77"/>
              <a:cs typeface="Circular Std Medium" panose="020B0604020101010102" pitchFamily="34" charset="77"/>
            </a:endParaRPr>
          </a:p>
        </p:txBody>
      </p:sp>
      <p:sp>
        <p:nvSpPr>
          <p:cNvPr id="13" name="Text 11"/>
          <p:cNvSpPr/>
          <p:nvPr/>
        </p:nvSpPr>
        <p:spPr>
          <a:xfrm>
            <a:off x="457200" y="4663440"/>
            <a:ext cx="8229600" cy="365760"/>
          </a:xfrm>
          <a:prstGeom prst="rect">
            <a:avLst/>
          </a:prstGeom>
          <a:noFill/>
          <a:ln/>
        </p:spPr>
        <p:txBody>
          <a:bodyPr wrap="square" lIns="0" tIns="0" rIns="0" bIns="0" rtlCol="0" anchor="ctr"/>
          <a:lstStyle/>
          <a:p>
            <a:pPr marL="0" indent="0">
              <a:buNone/>
            </a:pPr>
            <a:r>
              <a:rPr lang="en-US" sz="1200" i="1" dirty="0">
                <a:solidFill>
                  <a:srgbClr val="666666"/>
                </a:solidFill>
                <a:latin typeface="Circular Std Medium" panose="020B0604020101010102" pitchFamily="34" charset="77"/>
                <a:ea typeface="Arial" pitchFamily="34" charset="-122"/>
                <a:cs typeface="Circular Std Medium" panose="020B0604020101010102" pitchFamily="34" charset="77"/>
              </a:rPr>
              <a:t>Protection Esthétique BUT — Formation vendeurs</a:t>
            </a:r>
            <a:endParaRPr lang="en-US" sz="1200" dirty="0">
              <a:latin typeface="Circular Std Medium" panose="020B0604020101010102" pitchFamily="34" charset="77"/>
              <a:cs typeface="Circular Std Medium" panose="020B0604020101010102" pitchFamily="34"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1711</Words>
  <Application>Microsoft Macintosh PowerPoint</Application>
  <PresentationFormat>On-screen Show (16:9)</PresentationFormat>
  <Paragraphs>260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Circular Std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Protection Esthétique BUT - Formation</dc:title>
  <dc:subject>PptxGenJS Presentation</dc:subject>
  <dc:creator>Estaly</dc:creator>
  <cp:lastModifiedBy>Mathis Batoul</cp:lastModifiedBy>
  <cp:revision>3</cp:revision>
  <dcterms:created xsi:type="dcterms:W3CDTF">2026-02-12T16:41:32Z</dcterms:created>
  <dcterms:modified xsi:type="dcterms:W3CDTF">2026-02-12T17:09:31Z</dcterms:modified>
</cp:coreProperties>
</file>